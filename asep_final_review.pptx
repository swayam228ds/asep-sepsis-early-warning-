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2628522-e113-104d-6502-12443a1882b5}">
          <p14:sldIdLst>
            <p14:sldId id="256"/>
            <p14:sldId id="257"/>
            <p14:sldId id="258"/>
          </p14:sldIdLst>
        </p14:section>
        <p14:section name="Approach" id="{f7f6c814-2ad1-c5ef-8e5b-200dcc9245bb}">
          <p14:sldIdLst>
            <p14:sldId id="259"/>
            <p14:sldId id="260"/>
            <p14:sldId id="261"/>
            <p14:sldId id="262"/>
          </p14:sldIdLst>
        </p14:section>
        <p14:section name="Results" id="{d0ddf04a-578c-d238-5756-14fa14e0de2c}">
          <p14:sldIdLst>
            <p14:sldId id="263"/>
            <p14:sldId id="264"/>
            <p14:sldId id="265"/>
          </p14:sldIdLst>
        </p14:section>
        <p14:section name="Conclusion" id="{91b5e954-8296-c766-4e88-dc9fa3193d2f}">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93B"/>
                </a:solidFill>
                <a:latin typeface="+mn-lt"/>
              </a:defRPr>
            </a:pPr>
            <a:r>
              <a:rPr sz="1400" b="0" i="0" u="none" strike="noStrike">
                <a:solidFill>
                  <a:srgbClr val="1E293B"/>
                </a:solidFill>
                <a:latin typeface="+mn-lt"/>
              </a:rPr>
              <a:t>Synthetic test set: 11,917 patient-hours, base rate 3.0%</a:t>
            </a:r>
          </a:p>
        </c:rich>
      </c:tx>
      <c:layout/>
      <c:overlay val="0"/>
    </c:title>
    <c:autoTitleDeleted val="0"/>
    <c:plotArea>
      <c:layout/>
      <c:barChart>
        <c:barDir val="col"/>
        <c:grouping val="clustered"/>
        <c:varyColors val="0"/>
        <c:ser>
          <c:idx val="0"/>
          <c:order val="0"/>
          <c:tx>
            <c:strRef>
              <c:f>Sheet1!$B$1</c:f>
              <c:strCache>
                <c:ptCount val="1"/>
                <c:pt idx="0">
                  <c:v>AUPRC</c:v>
                </c:pt>
              </c:strCache>
            </c:strRef>
          </c:tx>
          <c:spPr>
            <a:solidFill>
              <a:srgbClr val="0F766E"/>
            </a:solidFill>
            <a:effectLst/>
          </c:spPr>
          <c:invertIfNegative val="0"/>
          <c:dLbls>
            <c:numFmt formatCode="0.00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cat>
            <c:multiLvlStrRef>
              <c:f>Sheet1!$A$2:$A$5</c:f>
              <c:multiLvlStrCache>
                <c:ptCount val="4"/>
                <c:lvl>
                  <c:pt idx="0">
                    <c:v>qSOFA (vitals)</c:v>
                  </c:pt>
                  <c:pt idx="1">
                    <c:v>SIRS (vitals)</c:v>
                  </c:pt>
                  <c:pt idx="2">
                    <c:v>ONNX model</c:v>
                  </c:pt>
                  <c:pt idx="3">
                    <c:v>NEWS2 (partial)</c:v>
                  </c:pt>
                </c:lvl>
              </c:multiLvlStrCache>
            </c:multiLvlStrRef>
          </c:cat>
          <c:val>
            <c:numRef>
              <c:f>Sheet1!$B$2:$B$5</c:f>
              <c:numCache>
                <c:formatCode>General</c:formatCode>
                <c:ptCount val="4"/>
                <c:pt idx="0">
                  <c:v>0.207</c:v>
                </c:pt>
                <c:pt idx="1">
                  <c:v>0.511</c:v>
                </c:pt>
                <c:pt idx="2">
                  <c:v>0.278</c:v>
                </c:pt>
                <c:pt idx="3">
                  <c:v>0.627</c:v>
                </c:pt>
              </c:numCache>
            </c:numRef>
          </c:val>
        </c:ser>
        <c:ser>
          <c:idx val="1"/>
          <c:order val="1"/>
          <c:tx>
            <c:strRef>
              <c:f>Sheet1!$C$1</c:f>
              <c:strCache>
                <c:ptCount val="1"/>
                <c:pt idx="0">
                  <c:v>AUROC</c:v>
                </c:pt>
              </c:strCache>
            </c:strRef>
          </c:tx>
          <c:spPr>
            <a:solidFill>
              <a:srgbClr val="8FC1BB"/>
            </a:solidFill>
            <a:effectLst/>
          </c:spPr>
          <c:invertIfNegative val="0"/>
          <c:dLbls>
            <c:numFmt formatCode="0.00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cat>
            <c:multiLvlStrRef>
              <c:f>Sheet1!$A$2:$A$5</c:f>
              <c:multiLvlStrCache>
                <c:ptCount val="4"/>
                <c:lvl>
                  <c:pt idx="0">
                    <c:v>qSOFA (vitals)</c:v>
                  </c:pt>
                  <c:pt idx="1">
                    <c:v>SIRS (vitals)</c:v>
                  </c:pt>
                  <c:pt idx="2">
                    <c:v>ONNX model</c:v>
                  </c:pt>
                  <c:pt idx="3">
                    <c:v>NEWS2 (partial)</c:v>
                  </c:pt>
                </c:lvl>
              </c:multiLvlStrCache>
            </c:multiLvlStrRef>
          </c:cat>
          <c:val>
            <c:numRef>
              <c:f>Sheet1!$C$2:$C$5</c:f>
              <c:numCache>
                <c:formatCode>General</c:formatCode>
                <c:ptCount val="4"/>
                <c:pt idx="0">
                  <c:v>0.794</c:v>
                </c:pt>
                <c:pt idx="1">
                  <c:v>0.91</c:v>
                </c:pt>
                <c:pt idx="2">
                  <c:v>0.874</c:v>
                </c:pt>
                <c:pt idx="3">
                  <c:v>0.939</c:v>
                </c:pt>
              </c:numCache>
            </c:numRef>
          </c:val>
        </c:ser>
        <c:dLbls>
          <c:numFmt formatCode="0.00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E293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93B"/>
                </a:solidFill>
                <a:latin typeface="+mn-lt"/>
              </a:defRPr>
            </a:pPr>
            <a:r>
              <a:rPr sz="1400" b="0" i="0" u="none" strike="noStrike">
                <a:solidFill>
                  <a:srgbClr val="1E293B"/>
                </a:solidFill>
                <a:latin typeface="+mn-lt"/>
              </a:rPr>
              <a:t>Share of hours that are septic, by predicted tier</a:t>
            </a:r>
          </a:p>
        </c:rich>
      </c:tx>
      <c:layout/>
      <c:overlay val="0"/>
    </c:title>
    <c:autoTitleDeleted val="0"/>
    <c:plotArea>
      <c:layout/>
      <c:barChart>
        <c:barDir val="col"/>
        <c:grouping val="clustered"/>
        <c:varyColors val="0"/>
        <c:ser>
          <c:idx val="0"/>
          <c:order val="0"/>
          <c:tx>
            <c:strRef>
              <c:f>Sheet1!$B$1</c:f>
              <c:strCache>
                <c:ptCount val="1"/>
                <c:pt idx="0">
                  <c:v>Observed sepsis rate</c:v>
                </c:pt>
              </c:strCache>
            </c:strRef>
          </c:tx>
          <c:spPr>
            <a:solidFill>
              <a:srgbClr val="2E9E6B"/>
            </a:solidFill>
            <a:effectLst/>
          </c:spPr>
          <c:invertIfNegative val="0"/>
          <c:dLbls>
            <c:numFmt formatCode="0.0#&quot;%&quot;"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2E9E6B"/>
              </a:solidFill>
              <a:effectLst/>
            </c:spPr>
          </c:dPt>
          <c:dPt>
            <c:idx val="1"/>
            <c:invertIfNegative val="0"/>
            <c:bubble3D val="0"/>
            <c:spPr>
              <a:solidFill>
                <a:srgbClr val="E99A2C"/>
              </a:solidFill>
              <a:effectLst/>
            </c:spPr>
          </c:dPt>
          <c:dPt>
            <c:idx val="2"/>
            <c:invertIfNegative val="0"/>
            <c:bubble3D val="0"/>
            <c:spPr>
              <a:solidFill>
                <a:srgbClr val="D7263D"/>
              </a:solidFill>
              <a:effectLst/>
            </c:spPr>
          </c:dPt>
          <c:cat>
            <c:multiLvlStrRef>
              <c:f>Sheet1!$A$2:$A$4</c:f>
              <c:multiLvlStrCache>
                <c:ptCount val="3"/>
                <c:lvl>
                  <c:pt idx="0">
                    <c:v>Low (&lt; 0.3)</c:v>
                  </c:pt>
                  <c:pt idx="1">
                    <c:v>Medium (0.3–0.6)</c:v>
                  </c:pt>
                  <c:pt idx="2">
                    <c:v>High (≥ 0.6)</c:v>
                  </c:pt>
                </c:lvl>
              </c:multiLvlStrCache>
            </c:multiLvlStrRef>
          </c:cat>
          <c:val>
            <c:numRef>
              <c:f>Sheet1!$B$2:$B$4</c:f>
              <c:numCache>
                <c:formatCode>General</c:formatCode>
                <c:ptCount val="3"/>
                <c:pt idx="0">
                  <c:v>0.95</c:v>
                </c:pt>
                <c:pt idx="1">
                  <c:v>5.63</c:v>
                </c:pt>
                <c:pt idx="2">
                  <c:v>21.44</c:v>
                </c:pt>
              </c:numCache>
            </c:numRef>
          </c:val>
        </c:ser>
        <c:dLbls>
          <c:numFmt formatCode="0.0#&quot;%&quot;"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The project builds an end-to-end sepsis early-warning system around a pre-trained machine-learning model, designed for clinics that cannot measure every vital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ML: the risk depends on combinations of vitals and must still work when some are missing. Fixed-threshold rules cannot weigh partial information. The users are frontline health workers in low-resource settings; the system is decision support, not a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measurable objectives, each tied to the problem: predict, cope with missing equipment, evaluate against the bedside rules clinicians already use, deploy as a usable tool, and verify its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Key design point: missing values flow through as NaN and the model handles them natively, so there is no imputation step. MAP is derived from SBP and DBP inside the model graph, and also shown in the UI with the same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that the evaluation data is synthetic and explain why: PhysioNet credentials. Septic patients' vitals drift towards SIRS / Sepsis-3 physiology before onset; 15% of non-septic patients have a mimic episode (e.g. isolated fever). Missingness after preprocessing: EtCO2 71%, SpO2 19%, BP and Resp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training happens in our pipeline, so there is no train/test split on our side. The model card reports a by-patient split on PhysioNet. AUPRC is the primary metric because only about 3% of patient-hours are positive, and AUROC alone looks optimistic under heavy imbalance.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loaded once at server start. Input validation rejects non-numbers and physiologically impossible values (for example SBP 0 from a broken cuff) and requires at least two vitals. The real code in app.py also checks plausibility ranges; the snippet is simplified.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our own, from evaluate_model.py on the synthetic data. Be upfront that NEWS2 wins here. Model selection justification: on real ICU data the rules are much weaker (they use fixed thresholds), while the model degrades gracefully when vitals are missing. Validating on real PhysioNet data is our main future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tiers are well ordered: 0.95% observed sepsis in Low, 5.6% in Medium, 21.4% in High. At the High cutoff, specificity is 94% and NPV 98.5%, so a Low result is reassuring, while PPV of 21% means High is a prompt to review, not a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here if possible: run python app.py and open localhost:5000. Show a preset, then clear a field to show missing values are handled. Example 3 shows the minimal-equipment case: no SpO2 or EtCO2, still scored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challenge is the important one to explain well: because the generator moves septic vitals across the very thresholds SIRS and NEWS2 use, those rules get an unrealistic advantage on synthetic data. We did not tune the generator to make our model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the system works end to end and its risk tiers are well ordered, but the synthetic comparison shows simple rules can match it when vitals are clean, so real-data validation is the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the model clearly: the ONNX model was trained by team MyLove; our work is the data generation, evaluation, API, dashboard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55448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731520" y="3108960"/>
            <a:ext cx="10698480" cy="73152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asep · Sepsis early warning · DSP Final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554480"/>
          </a:xfrm>
          <a:prstGeom prst="rect">
            <a:avLst/>
          </a:prstGeom>
          <a:noFill/>
          <a:ln/>
        </p:spPr>
        <p:txBody>
          <a:bodyPr wrap="square" lIns="0" tIns="0" rIns="0" bIns="0" rtlCol="0" anchor="b"/>
          <a:lstStyle/>
          <a:p>
            <a:pPr indent="0" marL="0">
              <a:buNone/>
            </a:pPr>
            <a:r>
              <a:rPr lang="en-US" sz="4400" b="1" dirty="0">
                <a:solidFill>
                  <a:schemeClr val="bg1"/>
                </a:solidFill>
              </a:rPr>
              <a:t>asep: Early Warning for Sepsis When Vitals Are Missing</a:t>
            </a:r>
            <a:endParaRPr lang="en-US" sz="4400" dirty="0"/>
          </a:p>
        </p:txBody>
      </p:sp>
      <p:sp>
        <p:nvSpPr>
          <p:cNvPr id="3" name="Text 0"/>
          <p:cNvSpPr/>
          <p:nvPr>
            <p:ph idx="101" type="body" hasCustomPrompt="1"/>
          </p:nvPr>
        </p:nvSpPr>
        <p:spPr>
          <a:xfrm>
            <a:off x="731520" y="3108960"/>
            <a:ext cx="10698480" cy="731520"/>
          </a:xfrm>
          <a:prstGeom prst="rect">
            <a:avLst/>
          </a:prstGeom>
          <a:noFill/>
          <a:ln/>
        </p:spPr>
        <p:txBody>
          <a:bodyPr wrap="square" lIns="0" tIns="0" rIns="0" bIns="0" rtlCol="0" anchor="t"/>
          <a:lstStyle/>
          <a:p>
            <a:pPr indent="0" marL="0">
              <a:buNone/>
            </a:pPr>
            <a:r>
              <a:rPr lang="en-US" sz="2000" dirty="0">
                <a:solidFill>
                  <a:schemeClr val="accent6"/>
                </a:solidFill>
              </a:rPr>
              <a:t>Predicting sepsis 6 hours before onset from bedside vital signs</a:t>
            </a:r>
            <a:endParaRPr lang="en-US" sz="2000" dirty="0"/>
          </a:p>
        </p:txBody>
      </p:sp>
      <p:sp>
        <p:nvSpPr>
          <p:cNvPr id="4" name="Shape 2"/>
          <p:cNvSpPr/>
          <p:nvPr/>
        </p:nvSpPr>
        <p:spPr>
          <a:xfrm>
            <a:off x="731520" y="4206240"/>
            <a:ext cx="2606040" cy="868680"/>
          </a:xfrm>
          <a:prstGeom prst="roundRect">
            <a:avLst>
              <a:gd name="adj" fmla="val 8421"/>
            </a:avLst>
          </a:prstGeom>
          <a:solidFill>
            <a:schemeClr val="accent1"/>
          </a:solidFill>
          <a:ln/>
        </p:spPr>
      </p:sp>
      <p:sp>
        <p:nvSpPr>
          <p:cNvPr id="5" name="Text 3"/>
          <p:cNvSpPr txBox="1"/>
          <p:nvPr/>
        </p:nvSpPr>
        <p:spPr>
          <a:xfrm>
            <a:off x="914400" y="4206240"/>
            <a:ext cx="2286000" cy="868680"/>
          </a:xfrm>
          <a:prstGeom prst="rect">
            <a:avLst/>
          </a:prstGeom>
          <a:noFill/>
          <a:ln/>
        </p:spPr>
        <p:txBody>
          <a:bodyPr wrap="square" lIns="0" tIns="0" rIns="0" bIns="0" rtlCol="0" anchor="ctr"/>
          <a:lstStyle/>
          <a:p>
            <a:pPr indent="0" marL="0">
              <a:buNone/>
            </a:pPr>
            <a:r>
              <a:rPr lang="en-US" sz="1600" b="1" dirty="0">
                <a:solidFill>
                  <a:schemeClr val="bg1"/>
                </a:solidFill>
              </a:rPr>
              <a:t>Abhinay Kharb</a:t>
            </a:r>
            <a:endParaRPr lang="en-US" sz="1500" dirty="0"/>
          </a:p>
          <a:p>
            <a:pPr indent="0" marL="0">
              <a:buNone/>
            </a:pPr>
            <a:r>
              <a:rPr lang="en-US" sz="1400" dirty="0">
                <a:solidFill>
                  <a:schemeClr val="bg1"/>
                </a:solidFill>
              </a:rPr>
              <a:t>24MID0185</a:t>
            </a:r>
            <a:endParaRPr lang="en-US" sz="1500" dirty="0"/>
          </a:p>
        </p:txBody>
      </p:sp>
      <p:sp>
        <p:nvSpPr>
          <p:cNvPr id="6" name="Shape 4"/>
          <p:cNvSpPr/>
          <p:nvPr/>
        </p:nvSpPr>
        <p:spPr>
          <a:xfrm>
            <a:off x="3566160" y="4206240"/>
            <a:ext cx="2606040" cy="868680"/>
          </a:xfrm>
          <a:prstGeom prst="roundRect">
            <a:avLst>
              <a:gd name="adj" fmla="val 8421"/>
            </a:avLst>
          </a:prstGeom>
          <a:solidFill>
            <a:schemeClr val="accent1"/>
          </a:solidFill>
          <a:ln/>
        </p:spPr>
      </p:sp>
      <p:sp>
        <p:nvSpPr>
          <p:cNvPr id="7" name="Text 5"/>
          <p:cNvSpPr txBox="1"/>
          <p:nvPr/>
        </p:nvSpPr>
        <p:spPr>
          <a:xfrm>
            <a:off x="3749040" y="4206240"/>
            <a:ext cx="2286000" cy="868680"/>
          </a:xfrm>
          <a:prstGeom prst="rect">
            <a:avLst/>
          </a:prstGeom>
          <a:noFill/>
          <a:ln/>
        </p:spPr>
        <p:txBody>
          <a:bodyPr wrap="square" lIns="0" tIns="0" rIns="0" bIns="0" rtlCol="0" anchor="ctr"/>
          <a:lstStyle/>
          <a:p>
            <a:pPr indent="0" marL="0">
              <a:buNone/>
            </a:pPr>
            <a:r>
              <a:rPr lang="en-US" sz="1600" b="1" dirty="0">
                <a:solidFill>
                  <a:schemeClr val="bg1"/>
                </a:solidFill>
              </a:rPr>
              <a:t>Swayam Mohanty</a:t>
            </a:r>
            <a:endParaRPr lang="en-US" sz="1500" dirty="0"/>
          </a:p>
          <a:p>
            <a:pPr indent="0" marL="0">
              <a:buNone/>
            </a:pPr>
            <a:r>
              <a:rPr lang="en-US" sz="1400" dirty="0">
                <a:solidFill>
                  <a:schemeClr val="bg1"/>
                </a:solidFill>
              </a:rPr>
              <a:t>24MID0088</a:t>
            </a:r>
            <a:endParaRPr lang="en-US" sz="1500" dirty="0"/>
          </a:p>
        </p:txBody>
      </p:sp>
      <p:sp>
        <p:nvSpPr>
          <p:cNvPr id="8" name="Shape 6"/>
          <p:cNvSpPr/>
          <p:nvPr/>
        </p:nvSpPr>
        <p:spPr>
          <a:xfrm>
            <a:off x="6400800" y="4206240"/>
            <a:ext cx="2606040" cy="868680"/>
          </a:xfrm>
          <a:prstGeom prst="roundRect">
            <a:avLst>
              <a:gd name="adj" fmla="val 8421"/>
            </a:avLst>
          </a:prstGeom>
          <a:solidFill>
            <a:schemeClr val="accent1"/>
          </a:solidFill>
          <a:ln/>
        </p:spPr>
      </p:sp>
      <p:sp>
        <p:nvSpPr>
          <p:cNvPr id="9" name="Text 7"/>
          <p:cNvSpPr txBox="1"/>
          <p:nvPr/>
        </p:nvSpPr>
        <p:spPr>
          <a:xfrm>
            <a:off x="6583680" y="4206240"/>
            <a:ext cx="2286000" cy="868680"/>
          </a:xfrm>
          <a:prstGeom prst="rect">
            <a:avLst/>
          </a:prstGeom>
          <a:noFill/>
          <a:ln/>
        </p:spPr>
        <p:txBody>
          <a:bodyPr wrap="square" lIns="0" tIns="0" rIns="0" bIns="0" rtlCol="0" anchor="ctr"/>
          <a:lstStyle/>
          <a:p>
            <a:pPr indent="0" marL="0">
              <a:buNone/>
            </a:pPr>
            <a:r>
              <a:rPr lang="en-US" sz="1600" b="1" dirty="0">
                <a:solidFill>
                  <a:schemeClr val="bg1"/>
                </a:solidFill>
              </a:rPr>
              <a:t>Omi Menass</a:t>
            </a:r>
            <a:endParaRPr lang="en-US" sz="1500" dirty="0"/>
          </a:p>
          <a:p>
            <a:pPr indent="0" marL="0">
              <a:buNone/>
            </a:pPr>
            <a:r>
              <a:rPr lang="en-US" sz="1400" dirty="0">
                <a:solidFill>
                  <a:schemeClr val="bg1"/>
                </a:solidFill>
              </a:rPr>
              <a:t>24MID0236</a:t>
            </a:r>
            <a:endParaRPr lang="en-US" sz="1500" dirty="0"/>
          </a:p>
        </p:txBody>
      </p:sp>
      <p:sp>
        <p:nvSpPr>
          <p:cNvPr id="10" name="Text 8"/>
          <p:cNvSpPr txBox="1"/>
          <p:nvPr/>
        </p:nvSpPr>
        <p:spPr>
          <a:xfrm>
            <a:off x="731520" y="5394960"/>
            <a:ext cx="10698480" cy="731520"/>
          </a:xfrm>
          <a:prstGeom prst="rect">
            <a:avLst/>
          </a:prstGeom>
          <a:noFill/>
          <a:ln/>
        </p:spPr>
        <p:txBody>
          <a:bodyPr wrap="square" lIns="0" tIns="0" rIns="0" bIns="0" rtlCol="0" anchor="t"/>
          <a:lstStyle/>
          <a:p>
            <a:pPr indent="0" marL="0">
              <a:spcAft>
                <a:spcPts val="400"/>
              </a:spcAft>
              <a:buNone/>
            </a:pPr>
            <a:r>
              <a:rPr lang="en-US" sz="1500" b="1" dirty="0">
                <a:solidFill>
                  <a:schemeClr val="bg1"/>
                </a:solidFill>
              </a:rPr>
              <a:t>Course: </a:t>
            </a:r>
            <a:pPr indent="0" marL="0">
              <a:spcAft>
                <a:spcPts val="400"/>
              </a:spcAft>
              <a:buNone/>
            </a:pPr>
            <a:r>
              <a:rPr lang="en-US" sz="1500" dirty="0">
                <a:solidFill>
                  <a:schemeClr val="bg1"/>
                </a:solidFill>
              </a:rPr>
              <a:t>Data Science Programming — Course Project, Final Review</a:t>
            </a:r>
            <a:endParaRPr lang="en-US" sz="1500" dirty="0"/>
          </a:p>
          <a:p>
            <a:pPr indent="0" marL="0">
              <a:spcAft>
                <a:spcPts val="400"/>
              </a:spcAft>
              <a:buNone/>
            </a:pPr>
            <a:r>
              <a:rPr lang="en-US" sz="1500" b="1" dirty="0">
                <a:solidFill>
                  <a:schemeClr val="bg1"/>
                </a:solidFill>
              </a:rPr>
              <a:t>Faculty / Guide: </a:t>
            </a:r>
            <a:pPr indent="0" marL="0">
              <a:spcAft>
                <a:spcPts val="400"/>
              </a:spcAft>
              <a:buNone/>
            </a:pPr>
            <a:r>
              <a:rPr lang="en-US" sz="1500" dirty="0">
                <a:solidFill>
                  <a:schemeClr val="bg1"/>
                </a:solidFill>
              </a:rPr>
              <a:t> </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Problem Statement</a:t>
            </a:r>
            <a:endParaRPr lang="en-US" sz="3400" dirty="0"/>
          </a:p>
        </p:txBody>
      </p:sp>
      <p:sp>
        <p:nvSpPr>
          <p:cNvPr id="3" name="Shape 1"/>
          <p:cNvSpPr/>
          <p:nvPr/>
        </p:nvSpPr>
        <p:spPr>
          <a:xfrm>
            <a:off x="548640" y="1371600"/>
            <a:ext cx="6675120" cy="4754880"/>
          </a:xfrm>
          <a:prstGeom prst="roundRect">
            <a:avLst>
              <a:gd name="adj" fmla="val 1923"/>
            </a:avLst>
          </a:prstGeom>
          <a:solidFill>
            <a:schemeClr val="bg2"/>
          </a:solidFill>
          <a:ln/>
        </p:spPr>
      </p:sp>
      <p:sp>
        <p:nvSpPr>
          <p:cNvPr id="4" name="Text 2"/>
          <p:cNvSpPr txBox="1"/>
          <p:nvPr/>
        </p:nvSpPr>
        <p:spPr>
          <a:xfrm>
            <a:off x="868680" y="1645920"/>
            <a:ext cx="6035040" cy="9144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Sepsis needs to be caught early, but small clinics cannot measure everything</a:t>
            </a:r>
            <a:endParaRPr lang="en-US" sz="2000" dirty="0"/>
          </a:p>
        </p:txBody>
      </p:sp>
      <p:sp>
        <p:nvSpPr>
          <p:cNvPr id="5" name="Text 3"/>
          <p:cNvSpPr txBox="1"/>
          <p:nvPr/>
        </p:nvSpPr>
        <p:spPr>
          <a:xfrm>
            <a:off x="868680" y="2651760"/>
            <a:ext cx="6035040" cy="32918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Sepsis is the body's extreme response to infection; it can progress to organ failure and shock within hours.</a:t>
            </a:r>
            <a:endParaRPr lang="en-US" sz="1500" dirty="0"/>
          </a:p>
          <a:p>
            <a:pPr marL="342900" indent="-342900">
              <a:spcAft>
                <a:spcPts val="600"/>
              </a:spcAft>
              <a:buSzPct val="100000"/>
              <a:buChar char="•"/>
            </a:pPr>
            <a:r>
              <a:rPr lang="en-US" sz="1500" dirty="0">
                <a:solidFill>
                  <a:schemeClr val="tx1"/>
                </a:solidFill>
              </a:rPr>
              <a:t>Early-warning tools usually assume a full ICU monitor. Primary-care clinics (e.g. Indonesian puskesmas) may have only a BP cuff and a thermometer.</a:t>
            </a:r>
            <a:endParaRPr lang="en-US" sz="1500" dirty="0"/>
          </a:p>
          <a:p>
            <a:pPr marL="342900" indent="-342900">
              <a:spcAft>
                <a:spcPts val="600"/>
              </a:spcAft>
              <a:buSzPct val="100000"/>
              <a:buChar char="•"/>
            </a:pPr>
            <a:r>
              <a:rPr lang="en-US" sz="1500" dirty="0">
                <a:solidFill>
                  <a:schemeClr val="tx1"/>
                </a:solidFill>
              </a:rPr>
              <a:t>Bedside scores such as qSOFA and SIRS use fixed thresholds and simply ignore what was not measured.</a:t>
            </a:r>
            <a:endParaRPr lang="en-US" sz="1500" dirty="0"/>
          </a:p>
          <a:p>
            <a:pPr marL="342900" indent="-342900">
              <a:spcAft>
                <a:spcPts val="600"/>
              </a:spcAft>
              <a:buSzPct val="100000"/>
              <a:buChar char="•"/>
            </a:pPr>
            <a:r>
              <a:rPr lang="en-US" sz="1500" dirty="0">
                <a:solidFill>
                  <a:schemeClr val="tx1"/>
                </a:solidFill>
              </a:rPr>
              <a:t>An ML model can combine whatever vitals are available into one calibrated risk estimate.</a:t>
            </a:r>
            <a:endParaRPr lang="en-US" sz="1500" dirty="0"/>
          </a:p>
        </p:txBody>
      </p:sp>
      <p:sp>
        <p:nvSpPr>
          <p:cNvPr id="6" name="Text 4"/>
          <p:cNvSpPr txBox="1"/>
          <p:nvPr/>
        </p:nvSpPr>
        <p:spPr>
          <a:xfrm>
            <a:off x="7680960" y="1417320"/>
            <a:ext cx="3931920" cy="365760"/>
          </a:xfrm>
          <a:prstGeom prst="rect">
            <a:avLst/>
          </a:prstGeom>
          <a:noFill/>
          <a:ln/>
        </p:spPr>
        <p:txBody>
          <a:bodyPr wrap="square" lIns="0" tIns="0" rIns="0" bIns="0" rtlCol="0" anchor="t"/>
          <a:lstStyle/>
          <a:p>
            <a:pPr indent="0" marL="0">
              <a:buNone/>
            </a:pPr>
            <a:r>
              <a:rPr lang="en-US" sz="1800" b="1" dirty="0">
                <a:solidFill>
                  <a:schemeClr val="tx2"/>
                </a:solidFill>
              </a:rPr>
              <a:t>Intended users</a:t>
            </a:r>
            <a:endParaRPr lang="en-US" sz="1800" dirty="0"/>
          </a:p>
        </p:txBody>
      </p:sp>
      <p:sp>
        <p:nvSpPr>
          <p:cNvPr id="7" name="Shape 5"/>
          <p:cNvSpPr/>
          <p:nvPr/>
        </p:nvSpPr>
        <p:spPr>
          <a:xfrm>
            <a:off x="7680960" y="2057400"/>
            <a:ext cx="502920" cy="502920"/>
          </a:xfrm>
          <a:prstGeom prst="ellipse">
            <a:avLst/>
          </a:prstGeom>
          <a:solidFill>
            <a:schemeClr val="accent1"/>
          </a:solidFill>
          <a:ln/>
        </p:spPr>
      </p:sp>
      <p:sp>
        <p:nvSpPr>
          <p:cNvPr id="8" name="Text 6"/>
          <p:cNvSpPr txBox="1"/>
          <p:nvPr/>
        </p:nvSpPr>
        <p:spPr>
          <a:xfrm>
            <a:off x="7680960" y="20574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7"/>
          <p:cNvSpPr txBox="1"/>
          <p:nvPr/>
        </p:nvSpPr>
        <p:spPr>
          <a:xfrm>
            <a:off x="8366760" y="1965960"/>
            <a:ext cx="3246120" cy="822960"/>
          </a:xfrm>
          <a:prstGeom prst="rect">
            <a:avLst/>
          </a:prstGeom>
          <a:noFill/>
          <a:ln/>
        </p:spPr>
        <p:txBody>
          <a:bodyPr wrap="square" lIns="0" tIns="0" rIns="0" bIns="0" rtlCol="0" anchor="ctr"/>
          <a:lstStyle/>
          <a:p>
            <a:pPr indent="0" marL="0">
              <a:buNone/>
            </a:pPr>
            <a:r>
              <a:rPr lang="en-US" sz="1500" b="1" dirty="0">
                <a:solidFill>
                  <a:schemeClr val="tx1"/>
                </a:solidFill>
              </a:rPr>
              <a:t>Nurses and health workers</a:t>
            </a:r>
            <a:endParaRPr lang="en-US" sz="1500" dirty="0"/>
          </a:p>
          <a:p>
            <a:pPr indent="0" marL="0">
              <a:buNone/>
            </a:pPr>
            <a:r>
              <a:rPr lang="en-US" sz="1500" dirty="0">
                <a:solidFill>
                  <a:schemeClr val="accent5"/>
                </a:solidFill>
              </a:rPr>
              <a:t>Triage the patient queue</a:t>
            </a:r>
            <a:endParaRPr lang="en-US" sz="1500" dirty="0"/>
          </a:p>
        </p:txBody>
      </p:sp>
      <p:sp>
        <p:nvSpPr>
          <p:cNvPr id="10" name="Shape 8"/>
          <p:cNvSpPr/>
          <p:nvPr/>
        </p:nvSpPr>
        <p:spPr>
          <a:xfrm>
            <a:off x="7680960" y="3429000"/>
            <a:ext cx="502920" cy="502920"/>
          </a:xfrm>
          <a:prstGeom prst="ellipse">
            <a:avLst/>
          </a:prstGeom>
          <a:solidFill>
            <a:schemeClr val="accent1"/>
          </a:solidFill>
          <a:ln/>
        </p:spPr>
      </p:sp>
      <p:sp>
        <p:nvSpPr>
          <p:cNvPr id="11" name="Text 9"/>
          <p:cNvSpPr txBox="1"/>
          <p:nvPr/>
        </p:nvSpPr>
        <p:spPr>
          <a:xfrm>
            <a:off x="7680960" y="34290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8366760" y="3337560"/>
            <a:ext cx="3246120" cy="822960"/>
          </a:xfrm>
          <a:prstGeom prst="rect">
            <a:avLst/>
          </a:prstGeom>
          <a:noFill/>
          <a:ln/>
        </p:spPr>
        <p:txBody>
          <a:bodyPr wrap="square" lIns="0" tIns="0" rIns="0" bIns="0" rtlCol="0" anchor="ctr"/>
          <a:lstStyle/>
          <a:p>
            <a:pPr indent="0" marL="0">
              <a:buNone/>
            </a:pPr>
            <a:r>
              <a:rPr lang="en-US" sz="1500" b="1" dirty="0">
                <a:solidFill>
                  <a:schemeClr val="tx1"/>
                </a:solidFill>
              </a:rPr>
              <a:t>Primary-care clinics</a:t>
            </a:r>
            <a:endParaRPr lang="en-US" sz="1500" dirty="0"/>
          </a:p>
          <a:p>
            <a:pPr indent="0" marL="0">
              <a:buNone/>
            </a:pPr>
            <a:r>
              <a:rPr lang="en-US" sz="1500" dirty="0">
                <a:solidFill>
                  <a:schemeClr val="accent5"/>
                </a:solidFill>
              </a:rPr>
              <a:t>Limited equipment, no ICU</a:t>
            </a:r>
            <a:endParaRPr lang="en-US" sz="1500" dirty="0"/>
          </a:p>
        </p:txBody>
      </p:sp>
      <p:sp>
        <p:nvSpPr>
          <p:cNvPr id="13" name="Shape 11"/>
          <p:cNvSpPr/>
          <p:nvPr/>
        </p:nvSpPr>
        <p:spPr>
          <a:xfrm>
            <a:off x="7680960" y="4800600"/>
            <a:ext cx="502920" cy="502920"/>
          </a:xfrm>
          <a:prstGeom prst="ellipse">
            <a:avLst/>
          </a:prstGeom>
          <a:solidFill>
            <a:schemeClr val="accent1"/>
          </a:solidFill>
          <a:ln/>
        </p:spPr>
      </p:sp>
      <p:sp>
        <p:nvSpPr>
          <p:cNvPr id="14" name="Text 12"/>
          <p:cNvSpPr txBox="1"/>
          <p:nvPr/>
        </p:nvSpPr>
        <p:spPr>
          <a:xfrm>
            <a:off x="7680960" y="48006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8366760" y="4709160"/>
            <a:ext cx="3246120" cy="822960"/>
          </a:xfrm>
          <a:prstGeom prst="rect">
            <a:avLst/>
          </a:prstGeom>
          <a:noFill/>
          <a:ln/>
        </p:spPr>
        <p:txBody>
          <a:bodyPr wrap="square" lIns="0" tIns="0" rIns="0" bIns="0" rtlCol="0" anchor="ctr"/>
          <a:lstStyle/>
          <a:p>
            <a:pPr indent="0" marL="0">
              <a:buNone/>
            </a:pPr>
            <a:r>
              <a:rPr lang="en-US" sz="1500" b="1" dirty="0">
                <a:solidFill>
                  <a:schemeClr val="tx1"/>
                </a:solidFill>
              </a:rPr>
              <a:t>Referring doctors</a:t>
            </a:r>
            <a:endParaRPr lang="en-US" sz="1500" dirty="0"/>
          </a:p>
          <a:p>
            <a:pPr indent="0" marL="0">
              <a:buNone/>
            </a:pPr>
            <a:r>
              <a:rPr lang="en-US" sz="1500" dirty="0">
                <a:solidFill>
                  <a:schemeClr val="accent5"/>
                </a:solidFill>
              </a:rPr>
              <a:t>Decide when to escalate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Objectives</a:t>
            </a:r>
            <a:endParaRPr lang="en-US" sz="3400" dirty="0"/>
          </a:p>
        </p:txBody>
      </p:sp>
      <p:sp>
        <p:nvSpPr>
          <p:cNvPr id="3" name="Shape 1"/>
          <p:cNvSpPr/>
          <p:nvPr/>
        </p:nvSpPr>
        <p:spPr>
          <a:xfrm>
            <a:off x="548640" y="1371600"/>
            <a:ext cx="11064240" cy="804672"/>
          </a:xfrm>
          <a:prstGeom prst="roundRect">
            <a:avLst>
              <a:gd name="adj" fmla="val 11364"/>
            </a:avLst>
          </a:prstGeom>
          <a:solidFill>
            <a:schemeClr val="bg2"/>
          </a:solidFill>
          <a:ln/>
        </p:spPr>
      </p:sp>
      <p:sp>
        <p:nvSpPr>
          <p:cNvPr id="4" name="Shape 2"/>
          <p:cNvSpPr/>
          <p:nvPr/>
        </p:nvSpPr>
        <p:spPr>
          <a:xfrm>
            <a:off x="777240" y="1522476"/>
            <a:ext cx="502920" cy="502920"/>
          </a:xfrm>
          <a:prstGeom prst="ellipse">
            <a:avLst/>
          </a:prstGeom>
          <a:solidFill>
            <a:schemeClr val="accent1"/>
          </a:solidFill>
          <a:ln/>
        </p:spPr>
      </p:sp>
      <p:sp>
        <p:nvSpPr>
          <p:cNvPr id="5" name="Text 3"/>
          <p:cNvSpPr txBox="1"/>
          <p:nvPr/>
        </p:nvSpPr>
        <p:spPr>
          <a:xfrm>
            <a:off x="777240" y="152247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508760" y="1371600"/>
            <a:ext cx="2377440" cy="804672"/>
          </a:xfrm>
          <a:prstGeom prst="rect">
            <a:avLst/>
          </a:prstGeom>
          <a:noFill/>
          <a:ln/>
        </p:spPr>
        <p:txBody>
          <a:bodyPr wrap="square" lIns="0" tIns="0" rIns="0" bIns="0" rtlCol="0" anchor="ctr"/>
          <a:lstStyle/>
          <a:p>
            <a:pPr indent="0" marL="0">
              <a:buNone/>
            </a:pPr>
            <a:r>
              <a:rPr lang="en-US" sz="1800" b="1" dirty="0">
                <a:solidFill>
                  <a:schemeClr val="tx2"/>
                </a:solidFill>
              </a:rPr>
              <a:t>Predict</a:t>
            </a:r>
            <a:endParaRPr lang="en-US" sz="1800" dirty="0"/>
          </a:p>
        </p:txBody>
      </p:sp>
      <p:sp>
        <p:nvSpPr>
          <p:cNvPr id="7" name="Text 5"/>
          <p:cNvSpPr txBox="1"/>
          <p:nvPr/>
        </p:nvSpPr>
        <p:spPr>
          <a:xfrm>
            <a:off x="3931920" y="1371600"/>
            <a:ext cx="7498080" cy="804672"/>
          </a:xfrm>
          <a:prstGeom prst="rect">
            <a:avLst/>
          </a:prstGeom>
          <a:noFill/>
          <a:ln/>
        </p:spPr>
        <p:txBody>
          <a:bodyPr wrap="square" lIns="0" tIns="0" rIns="0" bIns="0" rtlCol="0" anchor="ctr"/>
          <a:lstStyle/>
          <a:p>
            <a:pPr indent="0" marL="0">
              <a:buNone/>
            </a:pPr>
            <a:r>
              <a:rPr lang="en-US" sz="1500" dirty="0">
                <a:solidFill>
                  <a:schemeClr val="tx1"/>
                </a:solidFill>
              </a:rPr>
              <a:t>Estimate the risk of sepsis within the next 6 hours from 7 bedside vitals plus age and length of stay.</a:t>
            </a:r>
            <a:endParaRPr lang="en-US" sz="1500" dirty="0"/>
          </a:p>
        </p:txBody>
      </p:sp>
      <p:sp>
        <p:nvSpPr>
          <p:cNvPr id="8" name="Shape 6"/>
          <p:cNvSpPr/>
          <p:nvPr/>
        </p:nvSpPr>
        <p:spPr>
          <a:xfrm>
            <a:off x="548640" y="2322576"/>
            <a:ext cx="11064240" cy="804672"/>
          </a:xfrm>
          <a:prstGeom prst="roundRect">
            <a:avLst>
              <a:gd name="adj" fmla="val 11364"/>
            </a:avLst>
          </a:prstGeom>
          <a:solidFill>
            <a:schemeClr val="bg2"/>
          </a:solidFill>
          <a:ln/>
        </p:spPr>
      </p:sp>
      <p:sp>
        <p:nvSpPr>
          <p:cNvPr id="9" name="Shape 7"/>
          <p:cNvSpPr/>
          <p:nvPr/>
        </p:nvSpPr>
        <p:spPr>
          <a:xfrm>
            <a:off x="777240" y="2473452"/>
            <a:ext cx="502920" cy="502920"/>
          </a:xfrm>
          <a:prstGeom prst="ellipse">
            <a:avLst/>
          </a:prstGeom>
          <a:solidFill>
            <a:schemeClr val="accent1"/>
          </a:solidFill>
          <a:ln/>
        </p:spPr>
      </p:sp>
      <p:sp>
        <p:nvSpPr>
          <p:cNvPr id="10" name="Text 8"/>
          <p:cNvSpPr txBox="1"/>
          <p:nvPr/>
        </p:nvSpPr>
        <p:spPr>
          <a:xfrm>
            <a:off x="777240" y="247345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1508760" y="2322576"/>
            <a:ext cx="2377440" cy="804672"/>
          </a:xfrm>
          <a:prstGeom prst="rect">
            <a:avLst/>
          </a:prstGeom>
          <a:noFill/>
          <a:ln/>
        </p:spPr>
        <p:txBody>
          <a:bodyPr wrap="square" lIns="0" tIns="0" rIns="0" bIns="0" rtlCol="0" anchor="ctr"/>
          <a:lstStyle/>
          <a:p>
            <a:pPr indent="0" marL="0">
              <a:buNone/>
            </a:pPr>
            <a:r>
              <a:rPr lang="en-US" sz="1800" b="1" dirty="0">
                <a:solidFill>
                  <a:schemeClr val="tx2"/>
                </a:solidFill>
              </a:rPr>
              <a:t>Handle missing data</a:t>
            </a:r>
            <a:endParaRPr lang="en-US" sz="1800" dirty="0"/>
          </a:p>
        </p:txBody>
      </p:sp>
      <p:sp>
        <p:nvSpPr>
          <p:cNvPr id="12" name="Text 10"/>
          <p:cNvSpPr txBox="1"/>
          <p:nvPr/>
        </p:nvSpPr>
        <p:spPr>
          <a:xfrm>
            <a:off x="3931920" y="2322576"/>
            <a:ext cx="7498080" cy="804672"/>
          </a:xfrm>
          <a:prstGeom prst="rect">
            <a:avLst/>
          </a:prstGeom>
          <a:noFill/>
          <a:ln/>
        </p:spPr>
        <p:txBody>
          <a:bodyPr wrap="square" lIns="0" tIns="0" rIns="0" bIns="0" rtlCol="0" anchor="ctr"/>
          <a:lstStyle/>
          <a:p>
            <a:pPr indent="0" marL="0">
              <a:buNone/>
            </a:pPr>
            <a:r>
              <a:rPr lang="en-US" sz="1500" dirty="0">
                <a:solidFill>
                  <a:schemeClr val="tx1"/>
                </a:solidFill>
              </a:rPr>
              <a:t>Score correctly when any vital is unavailable, sending it as unknown (NaN) and never as 0.</a:t>
            </a:r>
            <a:endParaRPr lang="en-US" sz="1500" dirty="0"/>
          </a:p>
        </p:txBody>
      </p:sp>
      <p:sp>
        <p:nvSpPr>
          <p:cNvPr id="13" name="Shape 11"/>
          <p:cNvSpPr/>
          <p:nvPr/>
        </p:nvSpPr>
        <p:spPr>
          <a:xfrm>
            <a:off x="548640" y="3273552"/>
            <a:ext cx="11064240" cy="804672"/>
          </a:xfrm>
          <a:prstGeom prst="roundRect">
            <a:avLst>
              <a:gd name="adj" fmla="val 11364"/>
            </a:avLst>
          </a:prstGeom>
          <a:solidFill>
            <a:schemeClr val="bg2"/>
          </a:solidFill>
          <a:ln/>
        </p:spPr>
      </p:sp>
      <p:sp>
        <p:nvSpPr>
          <p:cNvPr id="14" name="Shape 12"/>
          <p:cNvSpPr/>
          <p:nvPr/>
        </p:nvSpPr>
        <p:spPr>
          <a:xfrm>
            <a:off x="777240" y="3424428"/>
            <a:ext cx="502920" cy="502920"/>
          </a:xfrm>
          <a:prstGeom prst="ellipse">
            <a:avLst/>
          </a:prstGeom>
          <a:solidFill>
            <a:schemeClr val="accent1"/>
          </a:solidFill>
          <a:ln/>
        </p:spPr>
      </p:sp>
      <p:sp>
        <p:nvSpPr>
          <p:cNvPr id="15" name="Text 13"/>
          <p:cNvSpPr txBox="1"/>
          <p:nvPr/>
        </p:nvSpPr>
        <p:spPr>
          <a:xfrm>
            <a:off x="777240" y="342442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508760" y="3273552"/>
            <a:ext cx="2377440" cy="804672"/>
          </a:xfrm>
          <a:prstGeom prst="rect">
            <a:avLst/>
          </a:prstGeom>
          <a:noFill/>
          <a:ln/>
        </p:spPr>
        <p:txBody>
          <a:bodyPr wrap="square" lIns="0" tIns="0" rIns="0" bIns="0" rtlCol="0" anchor="ctr"/>
          <a:lstStyle/>
          <a:p>
            <a:pPr indent="0" marL="0">
              <a:buNone/>
            </a:pPr>
            <a:r>
              <a:rPr lang="en-US" sz="1800" b="1" dirty="0">
                <a:solidFill>
                  <a:schemeClr val="tx2"/>
                </a:solidFill>
              </a:rPr>
              <a:t>Evaluate</a:t>
            </a:r>
            <a:endParaRPr lang="en-US" sz="1800" dirty="0"/>
          </a:p>
        </p:txBody>
      </p:sp>
      <p:sp>
        <p:nvSpPr>
          <p:cNvPr id="17" name="Text 15"/>
          <p:cNvSpPr txBox="1"/>
          <p:nvPr/>
        </p:nvSpPr>
        <p:spPr>
          <a:xfrm>
            <a:off x="3931920" y="3273552"/>
            <a:ext cx="7498080" cy="804672"/>
          </a:xfrm>
          <a:prstGeom prst="rect">
            <a:avLst/>
          </a:prstGeom>
          <a:noFill/>
          <a:ln/>
        </p:spPr>
        <p:txBody>
          <a:bodyPr wrap="square" lIns="0" tIns="0" rIns="0" bIns="0" rtlCol="0" anchor="ctr"/>
          <a:lstStyle/>
          <a:p>
            <a:pPr indent="0" marL="0">
              <a:buNone/>
            </a:pPr>
            <a:r>
              <a:rPr lang="en-US" sz="1500" dirty="0">
                <a:solidFill>
                  <a:schemeClr val="tx1"/>
                </a:solidFill>
              </a:rPr>
              <a:t>Measure AUROC, AUPRC, confusion matrices and risk-tier calibration, and compare against qSOFA, SIRS and NEWS2.</a:t>
            </a:r>
            <a:endParaRPr lang="en-US" sz="1500" dirty="0"/>
          </a:p>
        </p:txBody>
      </p:sp>
      <p:sp>
        <p:nvSpPr>
          <p:cNvPr id="18" name="Shape 16"/>
          <p:cNvSpPr/>
          <p:nvPr/>
        </p:nvSpPr>
        <p:spPr>
          <a:xfrm>
            <a:off x="548640" y="4224528"/>
            <a:ext cx="11064240" cy="804672"/>
          </a:xfrm>
          <a:prstGeom prst="roundRect">
            <a:avLst>
              <a:gd name="adj" fmla="val 11364"/>
            </a:avLst>
          </a:prstGeom>
          <a:solidFill>
            <a:schemeClr val="bg2"/>
          </a:solidFill>
          <a:ln/>
        </p:spPr>
      </p:sp>
      <p:sp>
        <p:nvSpPr>
          <p:cNvPr id="19" name="Shape 17"/>
          <p:cNvSpPr/>
          <p:nvPr/>
        </p:nvSpPr>
        <p:spPr>
          <a:xfrm>
            <a:off x="777240" y="4375404"/>
            <a:ext cx="502920" cy="502920"/>
          </a:xfrm>
          <a:prstGeom prst="ellipse">
            <a:avLst/>
          </a:prstGeom>
          <a:solidFill>
            <a:schemeClr val="accent1"/>
          </a:solidFill>
          <a:ln/>
        </p:spPr>
      </p:sp>
      <p:sp>
        <p:nvSpPr>
          <p:cNvPr id="20" name="Text 18"/>
          <p:cNvSpPr txBox="1"/>
          <p:nvPr/>
        </p:nvSpPr>
        <p:spPr>
          <a:xfrm>
            <a:off x="777240" y="4375404"/>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508760" y="4224528"/>
            <a:ext cx="2377440" cy="804672"/>
          </a:xfrm>
          <a:prstGeom prst="rect">
            <a:avLst/>
          </a:prstGeom>
          <a:noFill/>
          <a:ln/>
        </p:spPr>
        <p:txBody>
          <a:bodyPr wrap="square" lIns="0" tIns="0" rIns="0" bIns="0" rtlCol="0" anchor="ctr"/>
          <a:lstStyle/>
          <a:p>
            <a:pPr indent="0" marL="0">
              <a:buNone/>
            </a:pPr>
            <a:r>
              <a:rPr lang="en-US" sz="1800" b="1" dirty="0">
                <a:solidFill>
                  <a:schemeClr val="tx2"/>
                </a:solidFill>
              </a:rPr>
              <a:t>Deploy</a:t>
            </a:r>
            <a:endParaRPr lang="en-US" sz="1800" dirty="0"/>
          </a:p>
        </p:txBody>
      </p:sp>
      <p:sp>
        <p:nvSpPr>
          <p:cNvPr id="22" name="Text 20"/>
          <p:cNvSpPr txBox="1"/>
          <p:nvPr/>
        </p:nvSpPr>
        <p:spPr>
          <a:xfrm>
            <a:off x="3931920" y="4224528"/>
            <a:ext cx="7498080" cy="804672"/>
          </a:xfrm>
          <a:prstGeom prst="rect">
            <a:avLst/>
          </a:prstGeom>
          <a:noFill/>
          <a:ln/>
        </p:spPr>
        <p:txBody>
          <a:bodyPr wrap="square" lIns="0" tIns="0" rIns="0" bIns="0" rtlCol="0" anchor="ctr"/>
          <a:lstStyle/>
          <a:p>
            <a:pPr indent="0" marL="0">
              <a:buNone/>
            </a:pPr>
            <a:r>
              <a:rPr lang="en-US" sz="1500" dirty="0">
                <a:solidFill>
                  <a:schemeClr val="tx1"/>
                </a:solidFill>
              </a:rPr>
              <a:t>Serve predictions through a REST API and an interactive triage dashboard with clear Low / Medium / High tiers.</a:t>
            </a:r>
            <a:endParaRPr lang="en-US" sz="1500" dirty="0"/>
          </a:p>
        </p:txBody>
      </p:sp>
      <p:sp>
        <p:nvSpPr>
          <p:cNvPr id="23" name="Shape 21"/>
          <p:cNvSpPr/>
          <p:nvPr/>
        </p:nvSpPr>
        <p:spPr>
          <a:xfrm>
            <a:off x="548640" y="5175504"/>
            <a:ext cx="11064240" cy="804672"/>
          </a:xfrm>
          <a:prstGeom prst="roundRect">
            <a:avLst>
              <a:gd name="adj" fmla="val 11364"/>
            </a:avLst>
          </a:prstGeom>
          <a:solidFill>
            <a:schemeClr val="bg2"/>
          </a:solidFill>
          <a:ln/>
        </p:spPr>
      </p:sp>
      <p:sp>
        <p:nvSpPr>
          <p:cNvPr id="24" name="Shape 22"/>
          <p:cNvSpPr/>
          <p:nvPr/>
        </p:nvSpPr>
        <p:spPr>
          <a:xfrm>
            <a:off x="777240" y="5326380"/>
            <a:ext cx="502920" cy="502920"/>
          </a:xfrm>
          <a:prstGeom prst="ellipse">
            <a:avLst/>
          </a:prstGeom>
          <a:solidFill>
            <a:schemeClr val="accent1"/>
          </a:solidFill>
          <a:ln/>
        </p:spPr>
      </p:sp>
      <p:sp>
        <p:nvSpPr>
          <p:cNvPr id="25" name="Text 23"/>
          <p:cNvSpPr txBox="1"/>
          <p:nvPr/>
        </p:nvSpPr>
        <p:spPr>
          <a:xfrm>
            <a:off x="777240" y="53263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1508760" y="5175504"/>
            <a:ext cx="2377440" cy="804672"/>
          </a:xfrm>
          <a:prstGeom prst="rect">
            <a:avLst/>
          </a:prstGeom>
          <a:noFill/>
          <a:ln/>
        </p:spPr>
        <p:txBody>
          <a:bodyPr wrap="square" lIns="0" tIns="0" rIns="0" bIns="0" rtlCol="0" anchor="ctr"/>
          <a:lstStyle/>
          <a:p>
            <a:pPr indent="0" marL="0">
              <a:buNone/>
            </a:pPr>
            <a:r>
              <a:rPr lang="en-US" sz="1800" b="1" dirty="0">
                <a:solidFill>
                  <a:schemeClr val="tx2"/>
                </a:solidFill>
              </a:rPr>
              <a:t>Verify</a:t>
            </a:r>
            <a:endParaRPr lang="en-US" sz="1800" dirty="0"/>
          </a:p>
        </p:txBody>
      </p:sp>
      <p:sp>
        <p:nvSpPr>
          <p:cNvPr id="27" name="Text 25"/>
          <p:cNvSpPr txBox="1"/>
          <p:nvPr/>
        </p:nvSpPr>
        <p:spPr>
          <a:xfrm>
            <a:off x="3931920" y="5175504"/>
            <a:ext cx="7498080" cy="804672"/>
          </a:xfrm>
          <a:prstGeom prst="rect">
            <a:avLst/>
          </a:prstGeom>
          <a:noFill/>
          <a:ln/>
        </p:spPr>
        <p:txBody>
          <a:bodyPr wrap="square" lIns="0" tIns="0" rIns="0" bIns="0" rtlCol="0" anchor="ctr"/>
          <a:lstStyle/>
          <a:p>
            <a:pPr indent="0" marL="0">
              <a:buNone/>
            </a:pPr>
            <a:r>
              <a:rPr lang="en-US" sz="1500" dirty="0">
                <a:solidFill>
                  <a:schemeClr val="tx1"/>
                </a:solidFill>
              </a:rPr>
              <a:t>Test edge cases: missing vitals, invalid input, and that worsening vitals never lower the risk.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Proposed Solution</a:t>
            </a:r>
            <a:endParaRPr lang="en-US" sz="3400" dirty="0"/>
          </a:p>
        </p:txBody>
      </p:sp>
      <p:sp>
        <p:nvSpPr>
          <p:cNvPr id="3" name="Shape 1"/>
          <p:cNvSpPr/>
          <p:nvPr/>
        </p:nvSpPr>
        <p:spPr>
          <a:xfrm>
            <a:off x="548640" y="1463040"/>
            <a:ext cx="2377440" cy="548640"/>
          </a:xfrm>
          <a:prstGeom prst="roundRect">
            <a:avLst>
              <a:gd name="adj" fmla="val 13333"/>
            </a:avLst>
          </a:prstGeom>
          <a:solidFill>
            <a:schemeClr val="accent5"/>
          </a:solidFill>
          <a:ln/>
        </p:spPr>
      </p:sp>
      <p:sp>
        <p:nvSpPr>
          <p:cNvPr id="4" name="Text 2"/>
          <p:cNvSpPr txBox="1"/>
          <p:nvPr/>
        </p:nvSpPr>
        <p:spPr>
          <a:xfrm>
            <a:off x="548640" y="1463040"/>
            <a:ext cx="2377440" cy="548640"/>
          </a:xfrm>
          <a:prstGeom prst="rect">
            <a:avLst/>
          </a:prstGeom>
          <a:noFill/>
          <a:ln/>
        </p:spPr>
        <p:txBody>
          <a:bodyPr wrap="square" lIns="0" tIns="0" rIns="0" bIns="0" rtlCol="0" anchor="ctr"/>
          <a:lstStyle/>
          <a:p>
            <a:pPr algn="ctr" indent="0" marL="0">
              <a:buNone/>
            </a:pPr>
            <a:r>
              <a:rPr lang="en-US" sz="1700" b="1" dirty="0">
                <a:solidFill>
                  <a:schemeClr val="bg1"/>
                </a:solidFill>
              </a:rPr>
              <a:t>Input</a:t>
            </a:r>
            <a:endParaRPr lang="en-US" sz="1700" dirty="0"/>
          </a:p>
        </p:txBody>
      </p:sp>
      <p:sp>
        <p:nvSpPr>
          <p:cNvPr id="5" name="Shape 3"/>
          <p:cNvSpPr/>
          <p:nvPr/>
        </p:nvSpPr>
        <p:spPr>
          <a:xfrm>
            <a:off x="548640" y="2103120"/>
            <a:ext cx="2377440" cy="1508760"/>
          </a:xfrm>
          <a:prstGeom prst="roundRect">
            <a:avLst>
              <a:gd name="adj" fmla="val 6061"/>
            </a:avLst>
          </a:prstGeom>
          <a:solidFill>
            <a:schemeClr val="bg2"/>
          </a:solidFill>
          <a:ln/>
        </p:spPr>
      </p:sp>
      <p:sp>
        <p:nvSpPr>
          <p:cNvPr id="6" name="Text 4"/>
          <p:cNvSpPr txBox="1"/>
          <p:nvPr/>
        </p:nvSpPr>
        <p:spPr>
          <a:xfrm>
            <a:off x="713232" y="2212848"/>
            <a:ext cx="2048256" cy="1325880"/>
          </a:xfrm>
          <a:prstGeom prst="rect">
            <a:avLst/>
          </a:prstGeom>
          <a:noFill/>
          <a:ln/>
        </p:spPr>
        <p:txBody>
          <a:bodyPr wrap="square" lIns="0" tIns="0" rIns="0" bIns="0" rtlCol="0" anchor="t"/>
          <a:lstStyle/>
          <a:p>
            <a:pPr indent="0" marL="0">
              <a:buNone/>
            </a:pPr>
            <a:r>
              <a:rPr lang="en-US" sz="1400" dirty="0">
                <a:solidFill>
                  <a:schemeClr val="tx1"/>
                </a:solidFill>
              </a:rPr>
              <a:t>9 values: age, hours since admission, HR, Temp, Resp, SBP, DBP, SpO₂, EtCO₂</a:t>
            </a:r>
            <a:endParaRPr lang="en-US" sz="1400" dirty="0"/>
          </a:p>
        </p:txBody>
      </p:sp>
      <p:sp>
        <p:nvSpPr>
          <p:cNvPr id="7" name="Shape 5"/>
          <p:cNvSpPr/>
          <p:nvPr/>
        </p:nvSpPr>
        <p:spPr>
          <a:xfrm>
            <a:off x="2999232" y="1737360"/>
            <a:ext cx="374904" cy="0"/>
          </a:xfrm>
          <a:prstGeom prst="line">
            <a:avLst/>
          </a:prstGeom>
          <a:noFill/>
          <a:ln w="22225">
            <a:solidFill>
              <a:schemeClr val="accent5"/>
            </a:solidFill>
            <a:prstDash val="solid"/>
            <a:tailEnd type="triangle"/>
          </a:ln>
        </p:spPr>
      </p:sp>
      <p:sp>
        <p:nvSpPr>
          <p:cNvPr id="8" name="Shape 6"/>
          <p:cNvSpPr/>
          <p:nvPr/>
        </p:nvSpPr>
        <p:spPr>
          <a:xfrm>
            <a:off x="3447288" y="1463040"/>
            <a:ext cx="2377440" cy="548640"/>
          </a:xfrm>
          <a:prstGeom prst="roundRect">
            <a:avLst>
              <a:gd name="adj" fmla="val 13333"/>
            </a:avLst>
          </a:prstGeom>
          <a:solidFill>
            <a:schemeClr val="accent1"/>
          </a:solidFill>
          <a:ln/>
        </p:spPr>
      </p:sp>
      <p:sp>
        <p:nvSpPr>
          <p:cNvPr id="9" name="Text 7"/>
          <p:cNvSpPr txBox="1"/>
          <p:nvPr/>
        </p:nvSpPr>
        <p:spPr>
          <a:xfrm>
            <a:off x="3447288" y="1463040"/>
            <a:ext cx="2377440" cy="548640"/>
          </a:xfrm>
          <a:prstGeom prst="rect">
            <a:avLst/>
          </a:prstGeom>
          <a:noFill/>
          <a:ln/>
        </p:spPr>
        <p:txBody>
          <a:bodyPr wrap="square" lIns="0" tIns="0" rIns="0" bIns="0" rtlCol="0" anchor="ctr"/>
          <a:lstStyle/>
          <a:p>
            <a:pPr algn="ctr" indent="0" marL="0">
              <a:buNone/>
            </a:pPr>
            <a:r>
              <a:rPr lang="en-US" sz="1700" b="1" dirty="0">
                <a:solidFill>
                  <a:schemeClr val="bg1"/>
                </a:solidFill>
              </a:rPr>
              <a:t>Processing</a:t>
            </a:r>
            <a:endParaRPr lang="en-US" sz="1700" dirty="0"/>
          </a:p>
        </p:txBody>
      </p:sp>
      <p:sp>
        <p:nvSpPr>
          <p:cNvPr id="10" name="Shape 8"/>
          <p:cNvSpPr/>
          <p:nvPr/>
        </p:nvSpPr>
        <p:spPr>
          <a:xfrm>
            <a:off x="3447288" y="2103120"/>
            <a:ext cx="2377440" cy="1508760"/>
          </a:xfrm>
          <a:prstGeom prst="roundRect">
            <a:avLst>
              <a:gd name="adj" fmla="val 6061"/>
            </a:avLst>
          </a:prstGeom>
          <a:solidFill>
            <a:schemeClr val="bg2"/>
          </a:solidFill>
          <a:ln/>
        </p:spPr>
      </p:sp>
      <p:sp>
        <p:nvSpPr>
          <p:cNvPr id="11" name="Text 9"/>
          <p:cNvSpPr txBox="1"/>
          <p:nvPr/>
        </p:nvSpPr>
        <p:spPr>
          <a:xfrm>
            <a:off x="3611880" y="2212848"/>
            <a:ext cx="2048256" cy="1325880"/>
          </a:xfrm>
          <a:prstGeom prst="rect">
            <a:avLst/>
          </a:prstGeom>
          <a:noFill/>
          <a:ln/>
        </p:spPr>
        <p:txBody>
          <a:bodyPr wrap="square" lIns="0" tIns="0" rIns="0" bIns="0" rtlCol="0" anchor="t"/>
          <a:lstStyle/>
          <a:p>
            <a:pPr indent="0" marL="0">
              <a:buNone/>
            </a:pPr>
            <a:r>
              <a:rPr lang="en-US" sz="1400" dirty="0">
                <a:solidFill>
                  <a:schemeClr val="tx1"/>
                </a:solidFill>
              </a:rPr>
              <a:t>Validate ranges, blank → NaN, derive MAP = DBP + (SBP − DBP)/3</a:t>
            </a:r>
            <a:endParaRPr lang="en-US" sz="1400" dirty="0"/>
          </a:p>
        </p:txBody>
      </p:sp>
      <p:sp>
        <p:nvSpPr>
          <p:cNvPr id="12" name="Shape 10"/>
          <p:cNvSpPr/>
          <p:nvPr/>
        </p:nvSpPr>
        <p:spPr>
          <a:xfrm>
            <a:off x="5897880" y="1737360"/>
            <a:ext cx="374904" cy="0"/>
          </a:xfrm>
          <a:prstGeom prst="line">
            <a:avLst/>
          </a:prstGeom>
          <a:noFill/>
          <a:ln w="22225">
            <a:solidFill>
              <a:schemeClr val="accent5"/>
            </a:solidFill>
            <a:prstDash val="solid"/>
            <a:tailEnd type="triangle"/>
          </a:ln>
        </p:spPr>
      </p:sp>
      <p:sp>
        <p:nvSpPr>
          <p:cNvPr id="13" name="Shape 11"/>
          <p:cNvSpPr/>
          <p:nvPr/>
        </p:nvSpPr>
        <p:spPr>
          <a:xfrm>
            <a:off x="6345936" y="1463040"/>
            <a:ext cx="2377440" cy="548640"/>
          </a:xfrm>
          <a:prstGeom prst="roundRect">
            <a:avLst>
              <a:gd name="adj" fmla="val 13333"/>
            </a:avLst>
          </a:prstGeom>
          <a:solidFill>
            <a:schemeClr val="tx2"/>
          </a:solidFill>
          <a:ln/>
        </p:spPr>
      </p:sp>
      <p:sp>
        <p:nvSpPr>
          <p:cNvPr id="14" name="Text 12"/>
          <p:cNvSpPr txBox="1"/>
          <p:nvPr/>
        </p:nvSpPr>
        <p:spPr>
          <a:xfrm>
            <a:off x="6345936" y="1463040"/>
            <a:ext cx="2377440" cy="548640"/>
          </a:xfrm>
          <a:prstGeom prst="rect">
            <a:avLst/>
          </a:prstGeom>
          <a:noFill/>
          <a:ln/>
        </p:spPr>
        <p:txBody>
          <a:bodyPr wrap="square" lIns="0" tIns="0" rIns="0" bIns="0" rtlCol="0" anchor="ctr"/>
          <a:lstStyle/>
          <a:p>
            <a:pPr algn="ctr" indent="0" marL="0">
              <a:buNone/>
            </a:pPr>
            <a:r>
              <a:rPr lang="en-US" sz="1700" b="1" dirty="0">
                <a:solidFill>
                  <a:schemeClr val="bg1"/>
                </a:solidFill>
              </a:rPr>
              <a:t>Model</a:t>
            </a:r>
            <a:endParaRPr lang="en-US" sz="1700" dirty="0"/>
          </a:p>
        </p:txBody>
      </p:sp>
      <p:sp>
        <p:nvSpPr>
          <p:cNvPr id="15" name="Shape 13"/>
          <p:cNvSpPr/>
          <p:nvPr/>
        </p:nvSpPr>
        <p:spPr>
          <a:xfrm>
            <a:off x="6345936" y="2103120"/>
            <a:ext cx="2377440" cy="1508760"/>
          </a:xfrm>
          <a:prstGeom prst="roundRect">
            <a:avLst>
              <a:gd name="adj" fmla="val 6061"/>
            </a:avLst>
          </a:prstGeom>
          <a:solidFill>
            <a:schemeClr val="bg2"/>
          </a:solidFill>
          <a:ln/>
        </p:spPr>
      </p:sp>
      <p:sp>
        <p:nvSpPr>
          <p:cNvPr id="16" name="Text 14"/>
          <p:cNvSpPr txBox="1"/>
          <p:nvPr/>
        </p:nvSpPr>
        <p:spPr>
          <a:xfrm>
            <a:off x="6510528" y="2212848"/>
            <a:ext cx="2048256" cy="1325880"/>
          </a:xfrm>
          <a:prstGeom prst="rect">
            <a:avLst/>
          </a:prstGeom>
          <a:noFill/>
          <a:ln/>
        </p:spPr>
        <p:txBody>
          <a:bodyPr wrap="square" lIns="0" tIns="0" rIns="0" bIns="0" rtlCol="0" anchor="t"/>
          <a:lstStyle/>
          <a:p>
            <a:pPr indent="0" marL="0">
              <a:buNone/>
            </a:pPr>
            <a:r>
              <a:rPr lang="en-US" sz="1400" dirty="0">
                <a:solidFill>
                  <a:schemeClr val="tx1"/>
                </a:solidFill>
              </a:rPr>
              <a:t>LightGBM in ONNX format, run with onnxruntime on CPU</a:t>
            </a:r>
            <a:endParaRPr lang="en-US" sz="1400" dirty="0"/>
          </a:p>
        </p:txBody>
      </p:sp>
      <p:sp>
        <p:nvSpPr>
          <p:cNvPr id="17" name="Shape 15"/>
          <p:cNvSpPr/>
          <p:nvPr/>
        </p:nvSpPr>
        <p:spPr>
          <a:xfrm>
            <a:off x="8796528" y="1737360"/>
            <a:ext cx="374904" cy="0"/>
          </a:xfrm>
          <a:prstGeom prst="line">
            <a:avLst/>
          </a:prstGeom>
          <a:noFill/>
          <a:ln w="22225">
            <a:solidFill>
              <a:schemeClr val="accent5"/>
            </a:solidFill>
            <a:prstDash val="solid"/>
            <a:tailEnd type="triangle"/>
          </a:ln>
        </p:spPr>
      </p:sp>
      <p:sp>
        <p:nvSpPr>
          <p:cNvPr id="18" name="Shape 16"/>
          <p:cNvSpPr/>
          <p:nvPr/>
        </p:nvSpPr>
        <p:spPr>
          <a:xfrm>
            <a:off x="9244584" y="1463040"/>
            <a:ext cx="2377440" cy="548640"/>
          </a:xfrm>
          <a:prstGeom prst="roundRect">
            <a:avLst>
              <a:gd name="adj" fmla="val 13333"/>
            </a:avLst>
          </a:prstGeom>
          <a:solidFill>
            <a:schemeClr val="accent2"/>
          </a:solidFill>
          <a:ln/>
        </p:spPr>
      </p:sp>
      <p:sp>
        <p:nvSpPr>
          <p:cNvPr id="19" name="Text 17"/>
          <p:cNvSpPr txBox="1"/>
          <p:nvPr/>
        </p:nvSpPr>
        <p:spPr>
          <a:xfrm>
            <a:off x="9244584" y="1463040"/>
            <a:ext cx="2377440" cy="548640"/>
          </a:xfrm>
          <a:prstGeom prst="rect">
            <a:avLst/>
          </a:prstGeom>
          <a:noFill/>
          <a:ln/>
        </p:spPr>
        <p:txBody>
          <a:bodyPr wrap="square" lIns="0" tIns="0" rIns="0" bIns="0" rtlCol="0" anchor="ctr"/>
          <a:lstStyle/>
          <a:p>
            <a:pPr algn="ctr" indent="0" marL="0">
              <a:buNone/>
            </a:pPr>
            <a:r>
              <a:rPr lang="en-US" sz="1700" b="1" dirty="0">
                <a:solidFill>
                  <a:schemeClr val="bg1"/>
                </a:solidFill>
              </a:rPr>
              <a:t>Output</a:t>
            </a:r>
            <a:endParaRPr lang="en-US" sz="1700" dirty="0"/>
          </a:p>
        </p:txBody>
      </p:sp>
      <p:sp>
        <p:nvSpPr>
          <p:cNvPr id="20" name="Shape 18"/>
          <p:cNvSpPr/>
          <p:nvPr/>
        </p:nvSpPr>
        <p:spPr>
          <a:xfrm>
            <a:off x="9244584" y="2103120"/>
            <a:ext cx="2377440" cy="1508760"/>
          </a:xfrm>
          <a:prstGeom prst="roundRect">
            <a:avLst>
              <a:gd name="adj" fmla="val 6061"/>
            </a:avLst>
          </a:prstGeom>
          <a:solidFill>
            <a:schemeClr val="bg2"/>
          </a:solidFill>
          <a:ln/>
        </p:spPr>
      </p:sp>
      <p:sp>
        <p:nvSpPr>
          <p:cNvPr id="21" name="Text 19"/>
          <p:cNvSpPr txBox="1"/>
          <p:nvPr/>
        </p:nvSpPr>
        <p:spPr>
          <a:xfrm>
            <a:off x="9409176" y="2212848"/>
            <a:ext cx="2048256" cy="1325880"/>
          </a:xfrm>
          <a:prstGeom prst="rect">
            <a:avLst/>
          </a:prstGeom>
          <a:noFill/>
          <a:ln/>
        </p:spPr>
        <p:txBody>
          <a:bodyPr wrap="square" lIns="0" tIns="0" rIns="0" bIns="0" rtlCol="0" anchor="t"/>
          <a:lstStyle/>
          <a:p>
            <a:pPr indent="0" marL="0">
              <a:buNone/>
            </a:pPr>
            <a:r>
              <a:rPr lang="en-US" sz="1400" dirty="0">
                <a:solidFill>
                  <a:schemeClr val="tx1"/>
                </a:solidFill>
              </a:rPr>
              <a:t>riskScore 0–1, risk tier, next steps, abnormal vitals</a:t>
            </a:r>
            <a:endParaRPr lang="en-US" sz="1400" dirty="0"/>
          </a:p>
        </p:txBody>
      </p:sp>
      <p:sp>
        <p:nvSpPr>
          <p:cNvPr id="22" name="Text 20"/>
          <p:cNvSpPr txBox="1"/>
          <p:nvPr/>
        </p:nvSpPr>
        <p:spPr>
          <a:xfrm>
            <a:off x="548640" y="3931920"/>
            <a:ext cx="5486400" cy="365760"/>
          </a:xfrm>
          <a:prstGeom prst="rect">
            <a:avLst/>
          </a:prstGeom>
          <a:noFill/>
          <a:ln/>
        </p:spPr>
        <p:txBody>
          <a:bodyPr wrap="square" lIns="0" tIns="0" rIns="0" bIns="0" rtlCol="0" anchor="t"/>
          <a:lstStyle/>
          <a:p>
            <a:pPr indent="0" marL="0">
              <a:buNone/>
            </a:pPr>
            <a:r>
              <a:rPr lang="en-US" sz="1800" b="1" dirty="0">
                <a:solidFill>
                  <a:schemeClr val="tx2"/>
                </a:solidFill>
              </a:rPr>
              <a:t>System components</a:t>
            </a:r>
            <a:endParaRPr lang="en-US" sz="1800" dirty="0"/>
          </a:p>
        </p:txBody>
      </p:sp>
      <p:sp>
        <p:nvSpPr>
          <p:cNvPr id="23" name="Shape 21"/>
          <p:cNvSpPr/>
          <p:nvPr/>
        </p:nvSpPr>
        <p:spPr>
          <a:xfrm>
            <a:off x="548640" y="4434840"/>
            <a:ext cx="2377440" cy="1005840"/>
          </a:xfrm>
          <a:prstGeom prst="roundRect">
            <a:avLst>
              <a:gd name="adj" fmla="val 9091"/>
            </a:avLst>
          </a:prstGeom>
          <a:solidFill>
            <a:schemeClr val="bg1"/>
          </a:solidFill>
          <a:ln/>
        </p:spPr>
      </p:sp>
      <p:sp>
        <p:nvSpPr>
          <p:cNvPr id="24" name="Shape 22"/>
          <p:cNvSpPr/>
          <p:nvPr/>
        </p:nvSpPr>
        <p:spPr>
          <a:xfrm>
            <a:off x="548640" y="4434840"/>
            <a:ext cx="2377440" cy="1005840"/>
          </a:xfrm>
          <a:prstGeom prst="roundRect">
            <a:avLst>
              <a:gd name="adj" fmla="val 9091"/>
            </a:avLst>
          </a:prstGeom>
          <a:ln w="12700">
            <a:solidFill>
              <a:schemeClr val="accent6"/>
            </a:solidFill>
            <a:prstDash val="solid"/>
          </a:ln>
        </p:spPr>
      </p:sp>
      <p:sp>
        <p:nvSpPr>
          <p:cNvPr id="25" name="Text 23"/>
          <p:cNvSpPr txBox="1"/>
          <p:nvPr/>
        </p:nvSpPr>
        <p:spPr>
          <a:xfrm>
            <a:off x="713232" y="4434840"/>
            <a:ext cx="2048256" cy="1005840"/>
          </a:xfrm>
          <a:prstGeom prst="rect">
            <a:avLst/>
          </a:prstGeom>
          <a:noFill/>
          <a:ln/>
        </p:spPr>
        <p:txBody>
          <a:bodyPr wrap="square" lIns="0" tIns="0" rIns="0" bIns="0" rtlCol="0" anchor="ctr"/>
          <a:lstStyle/>
          <a:p>
            <a:pPr indent="0" marL="0">
              <a:buNone/>
            </a:pPr>
            <a:r>
              <a:rPr lang="en-US" sz="1400" b="1" dirty="0">
                <a:solidFill>
                  <a:schemeClr val="tx1"/>
                </a:solidFill>
              </a:rPr>
              <a:t>generate_test_data.py</a:t>
            </a:r>
            <a:endParaRPr lang="en-US" sz="1400" dirty="0"/>
          </a:p>
          <a:p>
            <a:pPr indent="0" marL="0">
              <a:buNone/>
            </a:pPr>
            <a:r>
              <a:rPr lang="en-US" sz="1400" dirty="0">
                <a:solidFill>
                  <a:schemeClr val="accent5"/>
                </a:solidFill>
              </a:rPr>
              <a:t>Synthetic patient-hour data</a:t>
            </a:r>
            <a:endParaRPr lang="en-US" sz="1400" dirty="0"/>
          </a:p>
        </p:txBody>
      </p:sp>
      <p:sp>
        <p:nvSpPr>
          <p:cNvPr id="26" name="Shape 24"/>
          <p:cNvSpPr/>
          <p:nvPr/>
        </p:nvSpPr>
        <p:spPr>
          <a:xfrm>
            <a:off x="3447288" y="4434840"/>
            <a:ext cx="2377440" cy="1005840"/>
          </a:xfrm>
          <a:prstGeom prst="roundRect">
            <a:avLst>
              <a:gd name="adj" fmla="val 9091"/>
            </a:avLst>
          </a:prstGeom>
          <a:solidFill>
            <a:schemeClr val="bg1"/>
          </a:solidFill>
          <a:ln/>
        </p:spPr>
      </p:sp>
      <p:sp>
        <p:nvSpPr>
          <p:cNvPr id="27" name="Shape 25"/>
          <p:cNvSpPr/>
          <p:nvPr/>
        </p:nvSpPr>
        <p:spPr>
          <a:xfrm>
            <a:off x="3447288" y="4434840"/>
            <a:ext cx="2377440" cy="1005840"/>
          </a:xfrm>
          <a:prstGeom prst="roundRect">
            <a:avLst>
              <a:gd name="adj" fmla="val 9091"/>
            </a:avLst>
          </a:prstGeom>
          <a:ln w="12700">
            <a:solidFill>
              <a:schemeClr val="accent6"/>
            </a:solidFill>
            <a:prstDash val="solid"/>
          </a:ln>
        </p:spPr>
      </p:sp>
      <p:sp>
        <p:nvSpPr>
          <p:cNvPr id="28" name="Text 26"/>
          <p:cNvSpPr txBox="1"/>
          <p:nvPr/>
        </p:nvSpPr>
        <p:spPr>
          <a:xfrm>
            <a:off x="3611880" y="4434840"/>
            <a:ext cx="2048256" cy="1005840"/>
          </a:xfrm>
          <a:prstGeom prst="rect">
            <a:avLst/>
          </a:prstGeom>
          <a:noFill/>
          <a:ln/>
        </p:spPr>
        <p:txBody>
          <a:bodyPr wrap="square" lIns="0" tIns="0" rIns="0" bIns="0" rtlCol="0" anchor="ctr"/>
          <a:lstStyle/>
          <a:p>
            <a:pPr indent="0" marL="0">
              <a:buNone/>
            </a:pPr>
            <a:r>
              <a:rPr lang="en-US" sz="1400" b="1" dirty="0">
                <a:solidFill>
                  <a:schemeClr val="tx1"/>
                </a:solidFill>
              </a:rPr>
              <a:t>evaluate_model.py</a:t>
            </a:r>
            <a:endParaRPr lang="en-US" sz="1400" dirty="0"/>
          </a:p>
          <a:p>
            <a:pPr indent="0" marL="0">
              <a:buNone/>
            </a:pPr>
            <a:r>
              <a:rPr lang="en-US" sz="1400" dirty="0">
                <a:solidFill>
                  <a:schemeClr val="accent5"/>
                </a:solidFill>
              </a:rPr>
              <a:t>Metrics and baseline comparison</a:t>
            </a:r>
            <a:endParaRPr lang="en-US" sz="1400" dirty="0"/>
          </a:p>
        </p:txBody>
      </p:sp>
      <p:sp>
        <p:nvSpPr>
          <p:cNvPr id="29" name="Shape 27"/>
          <p:cNvSpPr/>
          <p:nvPr/>
        </p:nvSpPr>
        <p:spPr>
          <a:xfrm>
            <a:off x="6345936" y="4434840"/>
            <a:ext cx="2377440" cy="1005840"/>
          </a:xfrm>
          <a:prstGeom prst="roundRect">
            <a:avLst>
              <a:gd name="adj" fmla="val 9091"/>
            </a:avLst>
          </a:prstGeom>
          <a:solidFill>
            <a:schemeClr val="bg1"/>
          </a:solidFill>
          <a:ln/>
        </p:spPr>
      </p:sp>
      <p:sp>
        <p:nvSpPr>
          <p:cNvPr id="30" name="Shape 28"/>
          <p:cNvSpPr/>
          <p:nvPr/>
        </p:nvSpPr>
        <p:spPr>
          <a:xfrm>
            <a:off x="6345936" y="4434840"/>
            <a:ext cx="2377440" cy="1005840"/>
          </a:xfrm>
          <a:prstGeom prst="roundRect">
            <a:avLst>
              <a:gd name="adj" fmla="val 9091"/>
            </a:avLst>
          </a:prstGeom>
          <a:ln w="12700">
            <a:solidFill>
              <a:schemeClr val="accent6"/>
            </a:solidFill>
            <a:prstDash val="solid"/>
          </a:ln>
        </p:spPr>
      </p:sp>
      <p:sp>
        <p:nvSpPr>
          <p:cNvPr id="31" name="Text 29"/>
          <p:cNvSpPr txBox="1"/>
          <p:nvPr/>
        </p:nvSpPr>
        <p:spPr>
          <a:xfrm>
            <a:off x="6510528" y="4434840"/>
            <a:ext cx="2048256" cy="1005840"/>
          </a:xfrm>
          <a:prstGeom prst="rect">
            <a:avLst/>
          </a:prstGeom>
          <a:noFill/>
          <a:ln/>
        </p:spPr>
        <p:txBody>
          <a:bodyPr wrap="square" lIns="0" tIns="0" rIns="0" bIns="0" rtlCol="0" anchor="ctr"/>
          <a:lstStyle/>
          <a:p>
            <a:pPr indent="0" marL="0">
              <a:buNone/>
            </a:pPr>
            <a:r>
              <a:rPr lang="en-US" sz="1400" b="1" dirty="0">
                <a:solidFill>
                  <a:schemeClr val="tx1"/>
                </a:solidFill>
              </a:rPr>
              <a:t>app.py (Flask)</a:t>
            </a:r>
            <a:endParaRPr lang="en-US" sz="1400" dirty="0"/>
          </a:p>
          <a:p>
            <a:pPr indent="0" marL="0">
              <a:buNone/>
            </a:pPr>
            <a:r>
              <a:rPr lang="en-US" sz="1400" dirty="0">
                <a:solidFill>
                  <a:schemeClr val="accent5"/>
                </a:solidFill>
              </a:rPr>
              <a:t>/api/predict, /api/metrics, …</a:t>
            </a:r>
            <a:endParaRPr lang="en-US" sz="1400" dirty="0"/>
          </a:p>
        </p:txBody>
      </p:sp>
      <p:sp>
        <p:nvSpPr>
          <p:cNvPr id="32" name="Shape 30"/>
          <p:cNvSpPr/>
          <p:nvPr/>
        </p:nvSpPr>
        <p:spPr>
          <a:xfrm>
            <a:off x="9244584" y="4434840"/>
            <a:ext cx="2377440" cy="1005840"/>
          </a:xfrm>
          <a:prstGeom prst="roundRect">
            <a:avLst>
              <a:gd name="adj" fmla="val 9091"/>
            </a:avLst>
          </a:prstGeom>
          <a:solidFill>
            <a:schemeClr val="bg1"/>
          </a:solidFill>
          <a:ln/>
        </p:spPr>
      </p:sp>
      <p:sp>
        <p:nvSpPr>
          <p:cNvPr id="33" name="Shape 31"/>
          <p:cNvSpPr/>
          <p:nvPr/>
        </p:nvSpPr>
        <p:spPr>
          <a:xfrm>
            <a:off x="9244584" y="4434840"/>
            <a:ext cx="2377440" cy="1005840"/>
          </a:xfrm>
          <a:prstGeom prst="roundRect">
            <a:avLst>
              <a:gd name="adj" fmla="val 9091"/>
            </a:avLst>
          </a:prstGeom>
          <a:ln w="12700">
            <a:solidFill>
              <a:schemeClr val="accent6"/>
            </a:solidFill>
            <a:prstDash val="solid"/>
          </a:ln>
        </p:spPr>
      </p:sp>
      <p:sp>
        <p:nvSpPr>
          <p:cNvPr id="34" name="Text 32"/>
          <p:cNvSpPr txBox="1"/>
          <p:nvPr/>
        </p:nvSpPr>
        <p:spPr>
          <a:xfrm>
            <a:off x="9409176" y="4434840"/>
            <a:ext cx="2048256" cy="1005840"/>
          </a:xfrm>
          <a:prstGeom prst="rect">
            <a:avLst/>
          </a:prstGeom>
          <a:noFill/>
          <a:ln/>
        </p:spPr>
        <p:txBody>
          <a:bodyPr wrap="square" lIns="0" tIns="0" rIns="0" bIns="0" rtlCol="0" anchor="ctr"/>
          <a:lstStyle/>
          <a:p>
            <a:pPr indent="0" marL="0">
              <a:buNone/>
            </a:pPr>
            <a:r>
              <a:rPr lang="en-US" sz="1400" b="1" dirty="0">
                <a:solidFill>
                  <a:schemeClr val="tx1"/>
                </a:solidFill>
              </a:rPr>
              <a:t>Web dashboard</a:t>
            </a:r>
            <a:endParaRPr lang="en-US" sz="1400" dirty="0"/>
          </a:p>
          <a:p>
            <a:pPr indent="0" marL="0">
              <a:buNone/>
            </a:pPr>
            <a:r>
              <a:rPr lang="en-US" sz="1400" dirty="0">
                <a:solidFill>
                  <a:schemeClr val="accent5"/>
                </a:solidFill>
              </a:rPr>
              <a:t>Triage · Validation · Data tabs</a:t>
            </a:r>
            <a:endParaRPr lang="en-US" sz="1400" dirty="0"/>
          </a:p>
        </p:txBody>
      </p:sp>
      <p:sp>
        <p:nvSpPr>
          <p:cNvPr id="35" name="Text 33"/>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500" i="1" dirty="0">
                <a:solidFill>
                  <a:schemeClr val="accent1"/>
                </a:solidFill>
              </a:rPr>
              <a:t>Expected outcome: a health worker enters whatever vitals they have and gets a calibrated risk tier in under a second.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Dataset &amp; Data Preparation</a:t>
            </a:r>
            <a:endParaRPr lang="en-US" sz="3400" dirty="0"/>
          </a:p>
        </p:txBody>
      </p:sp>
      <p:sp>
        <p:nvSpPr>
          <p:cNvPr id="3" name="Shape 1"/>
          <p:cNvSpPr/>
          <p:nvPr/>
        </p:nvSpPr>
        <p:spPr>
          <a:xfrm>
            <a:off x="548640" y="1371600"/>
            <a:ext cx="2514600" cy="1234440"/>
          </a:xfrm>
          <a:prstGeom prst="roundRect">
            <a:avLst>
              <a:gd name="adj" fmla="val 7407"/>
            </a:avLst>
          </a:prstGeom>
          <a:solidFill>
            <a:schemeClr val="bg2"/>
          </a:solidFill>
          <a:ln/>
        </p:spPr>
      </p:sp>
      <p:sp>
        <p:nvSpPr>
          <p:cNvPr id="4" name="Text 2"/>
          <p:cNvSpPr txBox="1"/>
          <p:nvPr/>
        </p:nvSpPr>
        <p:spPr>
          <a:xfrm>
            <a:off x="731520" y="1481328"/>
            <a:ext cx="219456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400</a:t>
            </a:r>
            <a:endParaRPr lang="en-US" sz="3200" dirty="0"/>
          </a:p>
        </p:txBody>
      </p:sp>
      <p:sp>
        <p:nvSpPr>
          <p:cNvPr id="5" name="Text 3"/>
          <p:cNvSpPr txBox="1"/>
          <p:nvPr/>
        </p:nvSpPr>
        <p:spPr>
          <a:xfrm>
            <a:off x="731520" y="2121408"/>
            <a:ext cx="2194560" cy="365760"/>
          </a:xfrm>
          <a:prstGeom prst="rect">
            <a:avLst/>
          </a:prstGeom>
          <a:noFill/>
          <a:ln/>
        </p:spPr>
        <p:txBody>
          <a:bodyPr wrap="square" lIns="0" tIns="0" rIns="0" bIns="0" rtlCol="0" anchor="t"/>
          <a:lstStyle/>
          <a:p>
            <a:pPr indent="0" marL="0">
              <a:buNone/>
            </a:pPr>
            <a:r>
              <a:rPr lang="en-US" sz="1400" dirty="0">
                <a:solidFill>
                  <a:schemeClr val="accent5"/>
                </a:solidFill>
              </a:rPr>
              <a:t>patients</a:t>
            </a:r>
            <a:endParaRPr lang="en-US" sz="1400" dirty="0"/>
          </a:p>
        </p:txBody>
      </p:sp>
      <p:sp>
        <p:nvSpPr>
          <p:cNvPr id="6" name="Shape 4"/>
          <p:cNvSpPr/>
          <p:nvPr/>
        </p:nvSpPr>
        <p:spPr>
          <a:xfrm>
            <a:off x="3246120" y="1371600"/>
            <a:ext cx="2514600" cy="1234440"/>
          </a:xfrm>
          <a:prstGeom prst="roundRect">
            <a:avLst>
              <a:gd name="adj" fmla="val 7407"/>
            </a:avLst>
          </a:prstGeom>
          <a:solidFill>
            <a:schemeClr val="bg2"/>
          </a:solidFill>
          <a:ln/>
        </p:spPr>
      </p:sp>
      <p:sp>
        <p:nvSpPr>
          <p:cNvPr id="7" name="Text 5"/>
          <p:cNvSpPr txBox="1"/>
          <p:nvPr/>
        </p:nvSpPr>
        <p:spPr>
          <a:xfrm>
            <a:off x="3429000" y="1481328"/>
            <a:ext cx="219456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11,917</a:t>
            </a:r>
            <a:endParaRPr lang="en-US" sz="3200" dirty="0"/>
          </a:p>
        </p:txBody>
      </p:sp>
      <p:sp>
        <p:nvSpPr>
          <p:cNvPr id="8" name="Text 6"/>
          <p:cNvSpPr txBox="1"/>
          <p:nvPr/>
        </p:nvSpPr>
        <p:spPr>
          <a:xfrm>
            <a:off x="3429000" y="2121408"/>
            <a:ext cx="2194560" cy="365760"/>
          </a:xfrm>
          <a:prstGeom prst="rect">
            <a:avLst/>
          </a:prstGeom>
          <a:noFill/>
          <a:ln/>
        </p:spPr>
        <p:txBody>
          <a:bodyPr wrap="square" lIns="0" tIns="0" rIns="0" bIns="0" rtlCol="0" anchor="t"/>
          <a:lstStyle/>
          <a:p>
            <a:pPr indent="0" marL="0">
              <a:buNone/>
            </a:pPr>
            <a:r>
              <a:rPr lang="en-US" sz="1400" dirty="0">
                <a:solidFill>
                  <a:schemeClr val="accent5"/>
                </a:solidFill>
              </a:rPr>
              <a:t>patient-hours</a:t>
            </a:r>
            <a:endParaRPr lang="en-US" sz="1400" dirty="0"/>
          </a:p>
        </p:txBody>
      </p:sp>
      <p:sp>
        <p:nvSpPr>
          <p:cNvPr id="9" name="Shape 7"/>
          <p:cNvSpPr/>
          <p:nvPr/>
        </p:nvSpPr>
        <p:spPr>
          <a:xfrm>
            <a:off x="548640" y="2788920"/>
            <a:ext cx="2514600" cy="1234440"/>
          </a:xfrm>
          <a:prstGeom prst="roundRect">
            <a:avLst>
              <a:gd name="adj" fmla="val 7407"/>
            </a:avLst>
          </a:prstGeom>
          <a:solidFill>
            <a:schemeClr val="bg2"/>
          </a:solidFill>
          <a:ln/>
        </p:spPr>
      </p:sp>
      <p:sp>
        <p:nvSpPr>
          <p:cNvPr id="10" name="Text 8"/>
          <p:cNvSpPr txBox="1"/>
          <p:nvPr/>
        </p:nvSpPr>
        <p:spPr>
          <a:xfrm>
            <a:off x="731520" y="2898648"/>
            <a:ext cx="219456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29</a:t>
            </a:r>
            <a:endParaRPr lang="en-US" sz="3200" dirty="0"/>
          </a:p>
        </p:txBody>
      </p:sp>
      <p:sp>
        <p:nvSpPr>
          <p:cNvPr id="11" name="Text 9"/>
          <p:cNvSpPr txBox="1"/>
          <p:nvPr/>
        </p:nvSpPr>
        <p:spPr>
          <a:xfrm>
            <a:off x="731520" y="3538728"/>
            <a:ext cx="2194560" cy="365760"/>
          </a:xfrm>
          <a:prstGeom prst="rect">
            <a:avLst/>
          </a:prstGeom>
          <a:noFill/>
          <a:ln/>
        </p:spPr>
        <p:txBody>
          <a:bodyPr wrap="square" lIns="0" tIns="0" rIns="0" bIns="0" rtlCol="0" anchor="t"/>
          <a:lstStyle/>
          <a:p>
            <a:pPr indent="0" marL="0">
              <a:buNone/>
            </a:pPr>
            <a:r>
              <a:rPr lang="en-US" sz="1400" dirty="0">
                <a:solidFill>
                  <a:schemeClr val="accent5"/>
                </a:solidFill>
              </a:rPr>
              <a:t>septic patients (7.3%)</a:t>
            </a:r>
            <a:endParaRPr lang="en-US" sz="1400" dirty="0"/>
          </a:p>
        </p:txBody>
      </p:sp>
      <p:sp>
        <p:nvSpPr>
          <p:cNvPr id="12" name="Shape 10"/>
          <p:cNvSpPr/>
          <p:nvPr/>
        </p:nvSpPr>
        <p:spPr>
          <a:xfrm>
            <a:off x="3246120" y="2788920"/>
            <a:ext cx="2514600" cy="1234440"/>
          </a:xfrm>
          <a:prstGeom prst="roundRect">
            <a:avLst>
              <a:gd name="adj" fmla="val 7407"/>
            </a:avLst>
          </a:prstGeom>
          <a:solidFill>
            <a:schemeClr val="bg2"/>
          </a:solidFill>
          <a:ln/>
        </p:spPr>
      </p:sp>
      <p:sp>
        <p:nvSpPr>
          <p:cNvPr id="13" name="Text 11"/>
          <p:cNvSpPr txBox="1"/>
          <p:nvPr/>
        </p:nvSpPr>
        <p:spPr>
          <a:xfrm>
            <a:off x="3429000" y="2898648"/>
            <a:ext cx="219456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9 + 1</a:t>
            </a:r>
            <a:endParaRPr lang="en-US" sz="3200" dirty="0"/>
          </a:p>
        </p:txBody>
      </p:sp>
      <p:sp>
        <p:nvSpPr>
          <p:cNvPr id="14" name="Text 12"/>
          <p:cNvSpPr txBox="1"/>
          <p:nvPr/>
        </p:nvSpPr>
        <p:spPr>
          <a:xfrm>
            <a:off x="3429000" y="3538728"/>
            <a:ext cx="2194560" cy="365760"/>
          </a:xfrm>
          <a:prstGeom prst="rect">
            <a:avLst/>
          </a:prstGeom>
          <a:noFill/>
          <a:ln/>
        </p:spPr>
        <p:txBody>
          <a:bodyPr wrap="square" lIns="0" tIns="0" rIns="0" bIns="0" rtlCol="0" anchor="t"/>
          <a:lstStyle/>
          <a:p>
            <a:pPr indent="0" marL="0">
              <a:buNone/>
            </a:pPr>
            <a:r>
              <a:rPr lang="en-US" sz="1400" dirty="0">
                <a:solidFill>
                  <a:schemeClr val="accent5"/>
                </a:solidFill>
              </a:rPr>
              <a:t>features + target</a:t>
            </a:r>
            <a:endParaRPr lang="en-US" sz="1400" dirty="0"/>
          </a:p>
        </p:txBody>
      </p:sp>
      <p:sp>
        <p:nvSpPr>
          <p:cNvPr id="15" name="Text 13"/>
          <p:cNvSpPr txBox="1"/>
          <p:nvPr/>
        </p:nvSpPr>
        <p:spPr>
          <a:xfrm>
            <a:off x="548640" y="4343400"/>
            <a:ext cx="5166360" cy="173736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Source: </a:t>
            </a:r>
            <a:pPr indent="0" marL="0">
              <a:spcAft>
                <a:spcPts val="600"/>
              </a:spcAft>
              <a:buNone/>
            </a:pPr>
            <a:r>
              <a:rPr lang="en-US" sz="1400" dirty="0">
                <a:solidFill>
                  <a:schemeClr val="tx1"/>
                </a:solidFill>
              </a:rPr>
              <a:t>synthetic data we generated, modelled on PhysioNet/CinC 2019 ICU distributions. Real patient records need credentialed access, so the generator creates realistic hourly trajectories.</a:t>
            </a:r>
            <a:endParaRPr lang="en-US" sz="1400" dirty="0"/>
          </a:p>
          <a:p>
            <a:pPr indent="0" marL="0">
              <a:spcAft>
                <a:spcPts val="600"/>
              </a:spcAft>
              <a:buNone/>
            </a:pPr>
            <a:r>
              <a:rPr lang="en-US" sz="1400" b="1" dirty="0">
                <a:solidFill>
                  <a:schemeClr val="tx1"/>
                </a:solidFill>
              </a:rPr>
              <a:t>Target: </a:t>
            </a:r>
            <a:pPr indent="0" marL="0">
              <a:spcAft>
                <a:spcPts val="600"/>
              </a:spcAft>
              <a:buNone/>
            </a:pPr>
            <a:r>
              <a:rPr lang="en-US" sz="1400" dirty="0">
                <a:solidFill>
                  <a:schemeClr val="tx1"/>
                </a:solidFill>
              </a:rPr>
              <a:t>SepsisLabel = 1 from 6 h before onset (PhysioNet convention).</a:t>
            </a:r>
            <a:endParaRPr lang="en-US" sz="1400" dirty="0"/>
          </a:p>
        </p:txBody>
      </p:sp>
      <p:sp>
        <p:nvSpPr>
          <p:cNvPr id="16" name="Text 14"/>
          <p:cNvSpPr txBox="1"/>
          <p:nvPr/>
        </p:nvSpPr>
        <p:spPr>
          <a:xfrm>
            <a:off x="6263640" y="1371600"/>
            <a:ext cx="5303520" cy="365760"/>
          </a:xfrm>
          <a:prstGeom prst="rect">
            <a:avLst/>
          </a:prstGeom>
          <a:noFill/>
          <a:ln/>
        </p:spPr>
        <p:txBody>
          <a:bodyPr wrap="square" lIns="0" tIns="0" rIns="0" bIns="0" rtlCol="0" anchor="t"/>
          <a:lstStyle/>
          <a:p>
            <a:pPr indent="0" marL="0">
              <a:buNone/>
            </a:pPr>
            <a:r>
              <a:rPr lang="en-US" sz="1800" b="1" dirty="0">
                <a:solidFill>
                  <a:schemeClr val="tx2"/>
                </a:solidFill>
              </a:rPr>
              <a:t>Preprocessing</a:t>
            </a:r>
            <a:endParaRPr lang="en-US" sz="1800" dirty="0"/>
          </a:p>
        </p:txBody>
      </p:sp>
      <p:sp>
        <p:nvSpPr>
          <p:cNvPr id="17" name="Shape 15"/>
          <p:cNvSpPr/>
          <p:nvPr/>
        </p:nvSpPr>
        <p:spPr>
          <a:xfrm>
            <a:off x="6263640" y="1901952"/>
            <a:ext cx="201168" cy="201168"/>
          </a:xfrm>
          <a:prstGeom prst="ellipse">
            <a:avLst/>
          </a:prstGeom>
          <a:solidFill>
            <a:schemeClr val="accent1"/>
          </a:solidFill>
          <a:ln/>
        </p:spPr>
      </p:sp>
      <p:sp>
        <p:nvSpPr>
          <p:cNvPr id="18" name="Text 16"/>
          <p:cNvSpPr txBox="1"/>
          <p:nvPr/>
        </p:nvSpPr>
        <p:spPr>
          <a:xfrm>
            <a:off x="6629400" y="1828800"/>
            <a:ext cx="4983480" cy="804672"/>
          </a:xfrm>
          <a:prstGeom prst="rect">
            <a:avLst/>
          </a:prstGeom>
          <a:noFill/>
          <a:ln/>
        </p:spPr>
        <p:txBody>
          <a:bodyPr wrap="square" lIns="0" tIns="0" rIns="0" bIns="0" rtlCol="0" anchor="t"/>
          <a:lstStyle/>
          <a:p>
            <a:pPr indent="0" marL="0">
              <a:buNone/>
            </a:pPr>
            <a:r>
              <a:rPr lang="en-US" sz="1400" b="1" dirty="0">
                <a:solidFill>
                  <a:schemeClr val="tx1"/>
                </a:solidFill>
              </a:rPr>
              <a:t>Missing values</a:t>
            </a:r>
            <a:endParaRPr lang="en-US" sz="1400" dirty="0"/>
          </a:p>
          <a:p>
            <a:pPr indent="0" marL="0">
              <a:buNone/>
            </a:pPr>
            <a:r>
              <a:rPr lang="en-US" sz="1400" dirty="0">
                <a:solidFill>
                  <a:schemeClr val="tx1"/>
                </a:solidFill>
              </a:rPr>
              <a:t>Kept as NaN (never 0). Last observation carried forward within each patient.</a:t>
            </a:r>
            <a:endParaRPr lang="en-US" sz="1400" dirty="0"/>
          </a:p>
        </p:txBody>
      </p:sp>
      <p:sp>
        <p:nvSpPr>
          <p:cNvPr id="19" name="Shape 17"/>
          <p:cNvSpPr/>
          <p:nvPr/>
        </p:nvSpPr>
        <p:spPr>
          <a:xfrm>
            <a:off x="6263640" y="2752344"/>
            <a:ext cx="201168" cy="201168"/>
          </a:xfrm>
          <a:prstGeom prst="ellipse">
            <a:avLst/>
          </a:prstGeom>
          <a:solidFill>
            <a:schemeClr val="accent1"/>
          </a:solidFill>
          <a:ln/>
        </p:spPr>
      </p:sp>
      <p:sp>
        <p:nvSpPr>
          <p:cNvPr id="20" name="Text 18"/>
          <p:cNvSpPr txBox="1"/>
          <p:nvPr/>
        </p:nvSpPr>
        <p:spPr>
          <a:xfrm>
            <a:off x="6629400" y="2679192"/>
            <a:ext cx="4983480" cy="804672"/>
          </a:xfrm>
          <a:prstGeom prst="rect">
            <a:avLst/>
          </a:prstGeom>
          <a:noFill/>
          <a:ln/>
        </p:spPr>
        <p:txBody>
          <a:bodyPr wrap="square" lIns="0" tIns="0" rIns="0" bIns="0" rtlCol="0" anchor="t"/>
          <a:lstStyle/>
          <a:p>
            <a:pPr indent="0" marL="0">
              <a:buNone/>
            </a:pPr>
            <a:r>
              <a:rPr lang="en-US" sz="1400" b="1" dirty="0">
                <a:solidFill>
                  <a:schemeClr val="tx1"/>
                </a:solidFill>
              </a:rPr>
              <a:t>Outliers</a:t>
            </a:r>
            <a:endParaRPr lang="en-US" sz="1400" dirty="0"/>
          </a:p>
          <a:p>
            <a:pPr indent="0" marL="0">
              <a:buNone/>
            </a:pPr>
            <a:r>
              <a:rPr lang="en-US" sz="1400" dirty="0">
                <a:solidFill>
                  <a:schemeClr val="tx1"/>
                </a:solidFill>
              </a:rPr>
              <a:t>Readings outside plausibility bounds discarded before forward fill (e.g. SBP 40–260).</a:t>
            </a:r>
            <a:endParaRPr lang="en-US" sz="1400" dirty="0"/>
          </a:p>
        </p:txBody>
      </p:sp>
      <p:sp>
        <p:nvSpPr>
          <p:cNvPr id="21" name="Shape 19"/>
          <p:cNvSpPr/>
          <p:nvPr/>
        </p:nvSpPr>
        <p:spPr>
          <a:xfrm>
            <a:off x="6263640" y="3602736"/>
            <a:ext cx="201168" cy="201168"/>
          </a:xfrm>
          <a:prstGeom prst="ellipse">
            <a:avLst/>
          </a:prstGeom>
          <a:solidFill>
            <a:schemeClr val="accent1"/>
          </a:solidFill>
          <a:ln/>
        </p:spPr>
      </p:sp>
      <p:sp>
        <p:nvSpPr>
          <p:cNvPr id="22" name="Text 20"/>
          <p:cNvSpPr txBox="1"/>
          <p:nvPr/>
        </p:nvSpPr>
        <p:spPr>
          <a:xfrm>
            <a:off x="6629400" y="3529584"/>
            <a:ext cx="4983480" cy="804672"/>
          </a:xfrm>
          <a:prstGeom prst="rect">
            <a:avLst/>
          </a:prstGeom>
          <a:noFill/>
          <a:ln/>
        </p:spPr>
        <p:txBody>
          <a:bodyPr wrap="square" lIns="0" tIns="0" rIns="0" bIns="0" rtlCol="0" anchor="t"/>
          <a:lstStyle/>
          <a:p>
            <a:pPr indent="0" marL="0">
              <a:buNone/>
            </a:pPr>
            <a:r>
              <a:rPr lang="en-US" sz="1400" b="1" dirty="0">
                <a:solidFill>
                  <a:schemeClr val="tx1"/>
                </a:solidFill>
              </a:rPr>
              <a:t>Equipment profiles</a:t>
            </a:r>
            <a:endParaRPr lang="en-US" sz="1400" dirty="0"/>
          </a:p>
          <a:p>
            <a:pPr indent="0" marL="0">
              <a:buNone/>
            </a:pPr>
            <a:r>
              <a:rPr lang="en-US" sz="1400" dirty="0">
                <a:solidFill>
                  <a:schemeClr val="tx1"/>
                </a:solidFill>
              </a:rPr>
              <a:t>Full, medium, minimal, pulse-ox only: unavailable sensors are always NaN.</a:t>
            </a:r>
            <a:endParaRPr lang="en-US" sz="1400" dirty="0"/>
          </a:p>
        </p:txBody>
      </p:sp>
      <p:sp>
        <p:nvSpPr>
          <p:cNvPr id="23" name="Shape 21"/>
          <p:cNvSpPr/>
          <p:nvPr/>
        </p:nvSpPr>
        <p:spPr>
          <a:xfrm>
            <a:off x="6263640" y="4453128"/>
            <a:ext cx="201168" cy="201168"/>
          </a:xfrm>
          <a:prstGeom prst="ellipse">
            <a:avLst/>
          </a:prstGeom>
          <a:solidFill>
            <a:schemeClr val="accent1"/>
          </a:solidFill>
          <a:ln/>
        </p:spPr>
      </p:sp>
      <p:sp>
        <p:nvSpPr>
          <p:cNvPr id="24" name="Text 22"/>
          <p:cNvSpPr txBox="1"/>
          <p:nvPr/>
        </p:nvSpPr>
        <p:spPr>
          <a:xfrm>
            <a:off x="6629400" y="4379976"/>
            <a:ext cx="4983480" cy="804672"/>
          </a:xfrm>
          <a:prstGeom prst="rect">
            <a:avLst/>
          </a:prstGeom>
          <a:noFill/>
          <a:ln/>
        </p:spPr>
        <p:txBody>
          <a:bodyPr wrap="square" lIns="0" tIns="0" rIns="0" bIns="0" rtlCol="0" anchor="t"/>
          <a:lstStyle/>
          <a:p>
            <a:pPr indent="0" marL="0">
              <a:buNone/>
            </a:pPr>
            <a:r>
              <a:rPr lang="en-US" sz="1400" b="1" dirty="0">
                <a:solidFill>
                  <a:schemeClr val="tx1"/>
                </a:solidFill>
              </a:rPr>
              <a:t>Dropout</a:t>
            </a:r>
            <a:endParaRPr lang="en-US" sz="1400" dirty="0"/>
          </a:p>
          <a:p>
            <a:pPr indent="0" marL="0">
              <a:buNone/>
            </a:pPr>
            <a:r>
              <a:rPr lang="en-US" sz="1400" dirty="0">
                <a:solidFill>
                  <a:schemeClr val="tx1"/>
                </a:solidFill>
              </a:rPr>
              <a:t>12% of hourly readings removed at random to mimic disconnections.</a:t>
            </a:r>
            <a:endParaRPr lang="en-US" sz="1400" dirty="0"/>
          </a:p>
        </p:txBody>
      </p:sp>
      <p:sp>
        <p:nvSpPr>
          <p:cNvPr id="25" name="Shape 23"/>
          <p:cNvSpPr/>
          <p:nvPr/>
        </p:nvSpPr>
        <p:spPr>
          <a:xfrm>
            <a:off x="6263640" y="5303520"/>
            <a:ext cx="201168" cy="201168"/>
          </a:xfrm>
          <a:prstGeom prst="ellipse">
            <a:avLst/>
          </a:prstGeom>
          <a:solidFill>
            <a:schemeClr val="accent1"/>
          </a:solidFill>
          <a:ln/>
        </p:spPr>
      </p:sp>
      <p:sp>
        <p:nvSpPr>
          <p:cNvPr id="26" name="Text 24"/>
          <p:cNvSpPr txBox="1"/>
          <p:nvPr/>
        </p:nvSpPr>
        <p:spPr>
          <a:xfrm>
            <a:off x="6629400" y="5230368"/>
            <a:ext cx="4983480" cy="804672"/>
          </a:xfrm>
          <a:prstGeom prst="rect">
            <a:avLst/>
          </a:prstGeom>
          <a:noFill/>
          <a:ln/>
        </p:spPr>
        <p:txBody>
          <a:bodyPr wrap="square" lIns="0" tIns="0" rIns="0" bIns="0" rtlCol="0" anchor="t"/>
          <a:lstStyle/>
          <a:p>
            <a:pPr indent="0" marL="0">
              <a:buNone/>
            </a:pPr>
            <a:r>
              <a:rPr lang="en-US" sz="1400" b="1" dirty="0">
                <a:solidFill>
                  <a:schemeClr val="tx1"/>
                </a:solidFill>
              </a:rPr>
              <a:t>Feature engineering</a:t>
            </a:r>
            <a:endParaRPr lang="en-US" sz="1400" dirty="0"/>
          </a:p>
          <a:p>
            <a:pPr indent="0" marL="0">
              <a:buNone/>
            </a:pPr>
            <a:r>
              <a:rPr lang="en-US" sz="1400" dirty="0">
                <a:solidFill>
                  <a:schemeClr val="tx1"/>
                </a:solidFill>
              </a:rPr>
              <a:t>MAP derived from SBP and DBP. No scaling or encoding needed for tree models.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Methodology</a:t>
            </a:r>
            <a:endParaRPr lang="en-US" sz="3400" dirty="0"/>
          </a:p>
        </p:txBody>
      </p:sp>
      <p:sp>
        <p:nvSpPr>
          <p:cNvPr id="3" name="Shape 1"/>
          <p:cNvSpPr/>
          <p:nvPr/>
        </p:nvSpPr>
        <p:spPr>
          <a:xfrm>
            <a:off x="548640" y="1371600"/>
            <a:ext cx="5394960" cy="4754880"/>
          </a:xfrm>
          <a:prstGeom prst="roundRect">
            <a:avLst>
              <a:gd name="adj" fmla="val 1923"/>
            </a:avLst>
          </a:prstGeom>
          <a:solidFill>
            <a:schemeClr val="bg2"/>
          </a:solidFill>
          <a:ln/>
        </p:spPr>
      </p:sp>
      <p:sp>
        <p:nvSpPr>
          <p:cNvPr id="4" name="Text 2"/>
          <p:cNvSpPr txBox="1"/>
          <p:nvPr/>
        </p:nvSpPr>
        <p:spPr>
          <a:xfrm>
            <a:off x="822960" y="1554480"/>
            <a:ext cx="4846320" cy="411480"/>
          </a:xfrm>
          <a:prstGeom prst="rect">
            <a:avLst/>
          </a:prstGeom>
          <a:noFill/>
          <a:ln/>
        </p:spPr>
        <p:txBody>
          <a:bodyPr wrap="square" lIns="0" tIns="0" rIns="0" bIns="0" rtlCol="0" anchor="t"/>
          <a:lstStyle/>
          <a:p>
            <a:pPr indent="0" marL="0">
              <a:buNone/>
            </a:pPr>
            <a:r>
              <a:rPr lang="en-US" sz="1800" b="1" dirty="0">
                <a:solidFill>
                  <a:schemeClr val="tx2"/>
                </a:solidFill>
              </a:rPr>
              <a:t>Prediction model</a:t>
            </a:r>
            <a:endParaRPr lang="en-US" sz="1800" dirty="0"/>
          </a:p>
        </p:txBody>
      </p:sp>
      <p:sp>
        <p:nvSpPr>
          <p:cNvPr id="5" name="Text 3"/>
          <p:cNvSpPr txBox="1"/>
          <p:nvPr/>
        </p:nvSpPr>
        <p:spPr>
          <a:xfrm>
            <a:off x="822960" y="2057400"/>
            <a:ext cx="4846320" cy="3931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Gradient-boosted decision trees (LightGBM), exported to ONNX.</a:t>
            </a:r>
            <a:endParaRPr lang="en-US" sz="1500" dirty="0"/>
          </a:p>
          <a:p>
            <a:pPr marL="342900" indent="-342900">
              <a:spcAft>
                <a:spcPts val="600"/>
              </a:spcAft>
              <a:buSzPct val="100000"/>
              <a:buChar char="•"/>
            </a:pPr>
            <a:r>
              <a:rPr lang="en-US" sz="1500" dirty="0">
                <a:solidFill>
                  <a:schemeClr val="tx1"/>
                </a:solidFill>
              </a:rPr>
              <a:t>Pre-trained by team MyLove (Datathon 2026) on PhysioNet/CinC 2019; we integrate, evaluate and deploy it.</a:t>
            </a:r>
            <a:endParaRPr lang="en-US" sz="1500" dirty="0"/>
          </a:p>
          <a:p>
            <a:pPr marL="342900" indent="-342900">
              <a:spcAft>
                <a:spcPts val="600"/>
              </a:spcAft>
              <a:buSzPct val="100000"/>
              <a:buChar char="•"/>
            </a:pPr>
            <a:r>
              <a:rPr lang="en-US" sz="1500" dirty="0">
                <a:solidFill>
                  <a:schemeClr val="tx1"/>
                </a:solidFill>
              </a:rPr>
              <a:t>Why trees: they handle NaN natively, capture non-linear thresholds (e.g. fever, low BP) and need no scaling.</a:t>
            </a:r>
            <a:endParaRPr lang="en-US" sz="1500" dirty="0"/>
          </a:p>
          <a:p>
            <a:pPr marL="342900" indent="-342900">
              <a:spcAft>
                <a:spcPts val="600"/>
              </a:spcAft>
              <a:buSzPct val="100000"/>
              <a:buChar char="•"/>
            </a:pPr>
            <a:r>
              <a:rPr lang="en-US" sz="1500" dirty="0">
                <a:solidFill>
                  <a:schemeClr val="tx1"/>
                </a:solidFill>
              </a:rPr>
              <a:t>Why ONNX: 385 KB, CPU only, no GPU or internet, predictable output.</a:t>
            </a:r>
            <a:endParaRPr lang="en-US" sz="1500" dirty="0"/>
          </a:p>
        </p:txBody>
      </p:sp>
      <p:sp>
        <p:nvSpPr>
          <p:cNvPr id="6" name="Text 4"/>
          <p:cNvSpPr txBox="1"/>
          <p:nvPr/>
        </p:nvSpPr>
        <p:spPr>
          <a:xfrm>
            <a:off x="6400800" y="1371600"/>
            <a:ext cx="5212080" cy="411480"/>
          </a:xfrm>
          <a:prstGeom prst="rect">
            <a:avLst/>
          </a:prstGeom>
          <a:noFill/>
          <a:ln/>
        </p:spPr>
        <p:txBody>
          <a:bodyPr wrap="square" lIns="0" tIns="0" rIns="0" bIns="0" rtlCol="0" anchor="t"/>
          <a:lstStyle/>
          <a:p>
            <a:pPr indent="0" marL="0">
              <a:buNone/>
            </a:pPr>
            <a:r>
              <a:rPr lang="en-US" sz="1800" b="1" dirty="0">
                <a:solidFill>
                  <a:schemeClr val="tx2"/>
                </a:solidFill>
              </a:rPr>
              <a:t>Evaluation process</a:t>
            </a:r>
            <a:endParaRPr lang="en-US" sz="1800" dirty="0"/>
          </a:p>
        </p:txBody>
      </p:sp>
      <p:sp>
        <p:nvSpPr>
          <p:cNvPr id="7" name="Shape 5"/>
          <p:cNvSpPr/>
          <p:nvPr/>
        </p:nvSpPr>
        <p:spPr>
          <a:xfrm>
            <a:off x="6400800" y="2029968"/>
            <a:ext cx="502920" cy="502920"/>
          </a:xfrm>
          <a:prstGeom prst="ellipse">
            <a:avLst/>
          </a:prstGeom>
          <a:solidFill>
            <a:schemeClr val="accent1"/>
          </a:solidFill>
          <a:ln/>
        </p:spPr>
      </p:sp>
      <p:sp>
        <p:nvSpPr>
          <p:cNvPr id="8" name="Text 6"/>
          <p:cNvSpPr txBox="1"/>
          <p:nvPr/>
        </p:nvSpPr>
        <p:spPr>
          <a:xfrm>
            <a:off x="6400800" y="20299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7"/>
          <p:cNvSpPr txBox="1"/>
          <p:nvPr/>
        </p:nvSpPr>
        <p:spPr>
          <a:xfrm>
            <a:off x="7086600" y="1920240"/>
            <a:ext cx="4526280" cy="868680"/>
          </a:xfrm>
          <a:prstGeom prst="rect">
            <a:avLst/>
          </a:prstGeom>
          <a:noFill/>
          <a:ln/>
        </p:spPr>
        <p:txBody>
          <a:bodyPr wrap="square" lIns="0" tIns="0" rIns="0" bIns="0" rtlCol="0" anchor="ctr"/>
          <a:lstStyle/>
          <a:p>
            <a:pPr indent="0" marL="0">
              <a:buNone/>
            </a:pPr>
            <a:r>
              <a:rPr lang="en-US" sz="1500" b="1" dirty="0">
                <a:solidFill>
                  <a:schemeClr val="tx1"/>
                </a:solidFill>
              </a:rPr>
              <a:t>Generate</a:t>
            </a:r>
            <a:endParaRPr lang="en-US" sz="1500" dirty="0"/>
          </a:p>
          <a:p>
            <a:pPr indent="0" marL="0">
              <a:buNone/>
            </a:pPr>
            <a:r>
              <a:rPr lang="en-US" sz="1500" dirty="0">
                <a:solidFill>
                  <a:schemeClr val="tx1"/>
                </a:solidFill>
              </a:rPr>
              <a:t>400 synthetic patients, fixed seed</a:t>
            </a:r>
            <a:endParaRPr lang="en-US" sz="1500" dirty="0"/>
          </a:p>
        </p:txBody>
      </p:sp>
      <p:sp>
        <p:nvSpPr>
          <p:cNvPr id="10" name="Shape 8"/>
          <p:cNvSpPr/>
          <p:nvPr/>
        </p:nvSpPr>
        <p:spPr>
          <a:xfrm>
            <a:off x="6652260" y="2578608"/>
            <a:ext cx="0" cy="457200"/>
          </a:xfrm>
          <a:prstGeom prst="line">
            <a:avLst/>
          </a:prstGeom>
          <a:noFill/>
          <a:ln w="19050">
            <a:solidFill>
              <a:schemeClr val="accent6"/>
            </a:solidFill>
            <a:prstDash val="solid"/>
          </a:ln>
        </p:spPr>
      </p:sp>
      <p:sp>
        <p:nvSpPr>
          <p:cNvPr id="11" name="Shape 9"/>
          <p:cNvSpPr/>
          <p:nvPr/>
        </p:nvSpPr>
        <p:spPr>
          <a:xfrm>
            <a:off x="6400800" y="3081528"/>
            <a:ext cx="502920" cy="502920"/>
          </a:xfrm>
          <a:prstGeom prst="ellipse">
            <a:avLst/>
          </a:prstGeom>
          <a:solidFill>
            <a:schemeClr val="accent1"/>
          </a:solidFill>
          <a:ln/>
        </p:spPr>
      </p:sp>
      <p:sp>
        <p:nvSpPr>
          <p:cNvPr id="12" name="Text 10"/>
          <p:cNvSpPr txBox="1"/>
          <p:nvPr/>
        </p:nvSpPr>
        <p:spPr>
          <a:xfrm>
            <a:off x="6400800" y="308152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7086600" y="2971800"/>
            <a:ext cx="4526280" cy="868680"/>
          </a:xfrm>
          <a:prstGeom prst="rect">
            <a:avLst/>
          </a:prstGeom>
          <a:noFill/>
          <a:ln/>
        </p:spPr>
        <p:txBody>
          <a:bodyPr wrap="square" lIns="0" tIns="0" rIns="0" bIns="0" rtlCol="0" anchor="ctr"/>
          <a:lstStyle/>
          <a:p>
            <a:pPr indent="0" marL="0">
              <a:buNone/>
            </a:pPr>
            <a:r>
              <a:rPr lang="en-US" sz="1500" b="1" dirty="0">
                <a:solidFill>
                  <a:schemeClr val="tx1"/>
                </a:solidFill>
              </a:rPr>
              <a:t>Score</a:t>
            </a:r>
            <a:endParaRPr lang="en-US" sz="1500" dirty="0"/>
          </a:p>
          <a:p>
            <a:pPr indent="0" marL="0">
              <a:buNone/>
            </a:pPr>
            <a:r>
              <a:rPr lang="en-US" sz="1500" dirty="0">
                <a:solidFill>
                  <a:schemeClr val="tx1"/>
                </a:solidFill>
              </a:rPr>
              <a:t>every patient-hour with the model</a:t>
            </a:r>
            <a:endParaRPr lang="en-US" sz="1500" dirty="0"/>
          </a:p>
        </p:txBody>
      </p:sp>
      <p:sp>
        <p:nvSpPr>
          <p:cNvPr id="14" name="Shape 12"/>
          <p:cNvSpPr/>
          <p:nvPr/>
        </p:nvSpPr>
        <p:spPr>
          <a:xfrm>
            <a:off x="6652260" y="3630168"/>
            <a:ext cx="0" cy="457200"/>
          </a:xfrm>
          <a:prstGeom prst="line">
            <a:avLst/>
          </a:prstGeom>
          <a:noFill/>
          <a:ln w="19050">
            <a:solidFill>
              <a:schemeClr val="accent6"/>
            </a:solidFill>
            <a:prstDash val="solid"/>
          </a:ln>
        </p:spPr>
      </p:sp>
      <p:sp>
        <p:nvSpPr>
          <p:cNvPr id="15" name="Shape 13"/>
          <p:cNvSpPr/>
          <p:nvPr/>
        </p:nvSpPr>
        <p:spPr>
          <a:xfrm>
            <a:off x="6400800" y="4133088"/>
            <a:ext cx="502920" cy="502920"/>
          </a:xfrm>
          <a:prstGeom prst="ellipse">
            <a:avLst/>
          </a:prstGeom>
          <a:solidFill>
            <a:schemeClr val="accent1"/>
          </a:solidFill>
          <a:ln/>
        </p:spPr>
      </p:sp>
      <p:sp>
        <p:nvSpPr>
          <p:cNvPr id="16" name="Text 14"/>
          <p:cNvSpPr txBox="1"/>
          <p:nvPr/>
        </p:nvSpPr>
        <p:spPr>
          <a:xfrm>
            <a:off x="6400800" y="413308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7086600" y="4023360"/>
            <a:ext cx="4526280" cy="868680"/>
          </a:xfrm>
          <a:prstGeom prst="rect">
            <a:avLst/>
          </a:prstGeom>
          <a:noFill/>
          <a:ln/>
        </p:spPr>
        <p:txBody>
          <a:bodyPr wrap="square" lIns="0" tIns="0" rIns="0" bIns="0" rtlCol="0" anchor="ctr"/>
          <a:lstStyle/>
          <a:p>
            <a:pPr indent="0" marL="0">
              <a:buNone/>
            </a:pPr>
            <a:r>
              <a:rPr lang="en-US" sz="1500" b="1" dirty="0">
                <a:solidFill>
                  <a:schemeClr val="tx1"/>
                </a:solidFill>
              </a:rPr>
              <a:t>Compare</a:t>
            </a:r>
            <a:endParaRPr lang="en-US" sz="1500" dirty="0"/>
          </a:p>
          <a:p>
            <a:pPr indent="0" marL="0">
              <a:buNone/>
            </a:pPr>
            <a:r>
              <a:rPr lang="en-US" sz="1500" dirty="0">
                <a:solidFill>
                  <a:schemeClr val="tx1"/>
                </a:solidFill>
              </a:rPr>
              <a:t>against qSOFA, SIRS, NEWS2 on the same columns</a:t>
            </a:r>
            <a:endParaRPr lang="en-US" sz="1500" dirty="0"/>
          </a:p>
        </p:txBody>
      </p:sp>
      <p:sp>
        <p:nvSpPr>
          <p:cNvPr id="18" name="Shape 16"/>
          <p:cNvSpPr/>
          <p:nvPr/>
        </p:nvSpPr>
        <p:spPr>
          <a:xfrm>
            <a:off x="6652260" y="4681728"/>
            <a:ext cx="0" cy="457200"/>
          </a:xfrm>
          <a:prstGeom prst="line">
            <a:avLst/>
          </a:prstGeom>
          <a:noFill/>
          <a:ln w="19050">
            <a:solidFill>
              <a:schemeClr val="accent6"/>
            </a:solidFill>
            <a:prstDash val="solid"/>
          </a:ln>
        </p:spPr>
      </p:sp>
      <p:sp>
        <p:nvSpPr>
          <p:cNvPr id="19" name="Shape 17"/>
          <p:cNvSpPr/>
          <p:nvPr/>
        </p:nvSpPr>
        <p:spPr>
          <a:xfrm>
            <a:off x="6400800" y="5184648"/>
            <a:ext cx="502920" cy="502920"/>
          </a:xfrm>
          <a:prstGeom prst="ellipse">
            <a:avLst/>
          </a:prstGeom>
          <a:solidFill>
            <a:schemeClr val="accent1"/>
          </a:solidFill>
          <a:ln/>
        </p:spPr>
      </p:sp>
      <p:sp>
        <p:nvSpPr>
          <p:cNvPr id="20" name="Text 18"/>
          <p:cNvSpPr txBox="1"/>
          <p:nvPr/>
        </p:nvSpPr>
        <p:spPr>
          <a:xfrm>
            <a:off x="6400800" y="51846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7086600" y="5074920"/>
            <a:ext cx="4526280" cy="868680"/>
          </a:xfrm>
          <a:prstGeom prst="rect">
            <a:avLst/>
          </a:prstGeom>
          <a:noFill/>
          <a:ln/>
        </p:spPr>
        <p:txBody>
          <a:bodyPr wrap="square" lIns="0" tIns="0" rIns="0" bIns="0" rtlCol="0" anchor="ctr"/>
          <a:lstStyle/>
          <a:p>
            <a:pPr indent="0" marL="0">
              <a:buNone/>
            </a:pPr>
            <a:r>
              <a:rPr lang="en-US" sz="1500" b="1" dirty="0">
                <a:solidFill>
                  <a:schemeClr val="tx1"/>
                </a:solidFill>
              </a:rPr>
              <a:t>Measure</a:t>
            </a:r>
            <a:endParaRPr lang="en-US" sz="1500" dirty="0"/>
          </a:p>
          <a:p>
            <a:pPr indent="0" marL="0">
              <a:buNone/>
            </a:pPr>
            <a:r>
              <a:rPr lang="en-US" sz="1500" dirty="0">
                <a:solidFill>
                  <a:schemeClr val="tx1"/>
                </a:solidFill>
              </a:rPr>
              <a:t>AUROC, AUPRC (class imbalance), confusion matrix, tier calibration, alarm lead time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Model Implementation</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760720" cy="914400"/>
        </p:xfrm>
        <a:graphic>
          <a:graphicData uri="http://schemas.openxmlformats.org/drawingml/2006/table">
            <a:tbl>
              <a:tblPr/>
              <a:tblGrid>
                <a:gridCol w="1463040"/>
                <a:gridCol w="4297680"/>
              </a:tblGrid>
              <a:tr h="45720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73152" marR="73152" marT="73152" marB="73152"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LightGBM, 352 trees, ONNX opset 15 (ai.onnx.ml 1)</a:t>
                      </a:r>
                      <a:endParaRPr lang="en-US" sz="1400" dirty="0">
                        <a:latin typeface="Calibri" charset="0"/>
                        <a:ea typeface="Calibri" charset="0"/>
                        <a:cs typeface="Calibri" charset="0"/>
                      </a:endParaRPr>
                    </a:p>
                  </a:txBody>
                  <a:tcPr marL="73152" marR="73152" marT="73152" marB="73152"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tcPr>
                </a:tc>
              </a:tr>
              <a:tr h="45720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73152" marB="73152"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input: float32 [N, 9], NaN = not measured</a:t>
                      </a:r>
                      <a:endParaRPr lang="en-US" sz="1400" dirty="0">
                        <a:latin typeface="Calibri" charset="0"/>
                        <a:ea typeface="Calibri" charset="0"/>
                        <a:cs typeface="Calibri" charset="0"/>
                      </a:endParaRPr>
                    </a:p>
                  </a:txBody>
                  <a:tcPr marL="73152" marR="73152" marT="73152" marB="73152"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tcPr>
                </a:tc>
              </a:tr>
              <a:tr h="45720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73152" marR="73152" marT="73152" marB="73152"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riskScore: float32 [N], calibrated 0–1</a:t>
                      </a:r>
                      <a:endParaRPr lang="en-US" sz="1400" dirty="0">
                        <a:latin typeface="Calibri" charset="0"/>
                        <a:ea typeface="Calibri" charset="0"/>
                        <a:cs typeface="Calibri" charset="0"/>
                      </a:endParaRPr>
                    </a:p>
                  </a:txBody>
                  <a:tcPr marL="73152" marR="73152" marT="73152" marB="73152"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tcPr>
                </a:tc>
              </a:tr>
              <a:tr h="45720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Thresholds</a:t>
                      </a:r>
                      <a:endParaRPr lang="en-US" sz="1400" dirty="0">
                        <a:latin typeface="Calibri" charset="0"/>
                        <a:ea typeface="Calibri" charset="0"/>
                        <a:cs typeface="Calibri" charset="0"/>
                      </a:endParaRPr>
                    </a:p>
                  </a:txBody>
                  <a:tcPr marL="73152" marR="73152" marT="73152" marB="73152"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Low &lt; 0.3 ≤ Medium &lt; 0.6 ≤ High</a:t>
                      </a:r>
                      <a:endParaRPr lang="en-US" sz="1400" dirty="0">
                        <a:latin typeface="Calibri" charset="0"/>
                        <a:ea typeface="Calibri" charset="0"/>
                        <a:cs typeface="Calibri" charset="0"/>
                      </a:endParaRPr>
                    </a:p>
                  </a:txBody>
                  <a:tcPr marL="73152" marR="73152" marT="73152" marB="73152"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tcPr>
                </a:tc>
              </a:tr>
              <a:tr h="45720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Horizon</a:t>
                      </a:r>
                      <a:endParaRPr lang="en-US" sz="1400" dirty="0">
                        <a:latin typeface="Calibri" charset="0"/>
                        <a:ea typeface="Calibri" charset="0"/>
                        <a:cs typeface="Calibri" charset="0"/>
                      </a:endParaRPr>
                    </a:p>
                  </a:txBody>
                  <a:tcPr marL="73152" marR="73152" marT="73152" marB="73152"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Sepsis onset within 6 hours</a:t>
                      </a:r>
                      <a:endParaRPr lang="en-US" sz="1400" dirty="0">
                        <a:latin typeface="Calibri" charset="0"/>
                        <a:ea typeface="Calibri" charset="0"/>
                        <a:cs typeface="Calibri" charset="0"/>
                      </a:endParaRPr>
                    </a:p>
                  </a:txBody>
                  <a:tcPr marL="73152" marR="73152" marT="73152" marB="73152"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tcPr>
                </a:tc>
              </a:tr>
            </a:tbl>
          </a:graphicData>
        </a:graphic>
      </p:graphicFrame>
      <p:sp>
        <p:nvSpPr>
          <p:cNvPr id="4" name="Text 1"/>
          <p:cNvSpPr txBox="1"/>
          <p:nvPr/>
        </p:nvSpPr>
        <p:spPr>
          <a:xfrm>
            <a:off x="548640" y="3977640"/>
            <a:ext cx="5760720" cy="365760"/>
          </a:xfrm>
          <a:prstGeom prst="rect">
            <a:avLst/>
          </a:prstGeom>
          <a:noFill/>
          <a:ln/>
        </p:spPr>
        <p:txBody>
          <a:bodyPr wrap="square" lIns="0" tIns="0" rIns="0" bIns="0" rtlCol="0" anchor="t"/>
          <a:lstStyle/>
          <a:p>
            <a:pPr indent="0" marL="0">
              <a:buNone/>
            </a:pPr>
            <a:r>
              <a:rPr lang="en-US" sz="1800" b="1" dirty="0">
                <a:solidFill>
                  <a:schemeClr val="tx2"/>
                </a:solidFill>
              </a:rPr>
              <a:t>Tools and libraries</a:t>
            </a:r>
            <a:endParaRPr lang="en-US" sz="1800" dirty="0"/>
          </a:p>
        </p:txBody>
      </p:sp>
      <p:sp>
        <p:nvSpPr>
          <p:cNvPr id="5" name="Shape 2"/>
          <p:cNvSpPr/>
          <p:nvPr/>
        </p:nvSpPr>
        <p:spPr>
          <a:xfrm>
            <a:off x="548640" y="4480560"/>
            <a:ext cx="1353312" cy="438912"/>
          </a:xfrm>
          <a:prstGeom prst="roundRect">
            <a:avLst>
              <a:gd name="adj" fmla="val 50000"/>
            </a:avLst>
          </a:prstGeom>
          <a:solidFill>
            <a:schemeClr val="bg2"/>
          </a:solidFill>
          <a:ln/>
        </p:spPr>
      </p:sp>
      <p:sp>
        <p:nvSpPr>
          <p:cNvPr id="6" name="Text 3"/>
          <p:cNvSpPr txBox="1"/>
          <p:nvPr/>
        </p:nvSpPr>
        <p:spPr>
          <a:xfrm>
            <a:off x="548640" y="4480560"/>
            <a:ext cx="1353312" cy="438912"/>
          </a:xfrm>
          <a:prstGeom prst="rect">
            <a:avLst/>
          </a:prstGeom>
          <a:noFill/>
          <a:ln/>
        </p:spPr>
        <p:txBody>
          <a:bodyPr wrap="square" lIns="0" tIns="0" rIns="0" bIns="0" rtlCol="0" anchor="ctr"/>
          <a:lstStyle/>
          <a:p>
            <a:pPr algn="ctr" indent="0" marL="0">
              <a:buNone/>
            </a:pPr>
            <a:r>
              <a:rPr lang="en-US" sz="1300" dirty="0">
                <a:solidFill>
                  <a:schemeClr val="tx2"/>
                </a:solidFill>
              </a:rPr>
              <a:t>Python 3.12</a:t>
            </a:r>
            <a:endParaRPr lang="en-US" sz="1300" dirty="0"/>
          </a:p>
        </p:txBody>
      </p:sp>
      <p:sp>
        <p:nvSpPr>
          <p:cNvPr id="7" name="Shape 4"/>
          <p:cNvSpPr/>
          <p:nvPr/>
        </p:nvSpPr>
        <p:spPr>
          <a:xfrm>
            <a:off x="2011680" y="4480560"/>
            <a:ext cx="1353312" cy="438912"/>
          </a:xfrm>
          <a:prstGeom prst="roundRect">
            <a:avLst>
              <a:gd name="adj" fmla="val 50000"/>
            </a:avLst>
          </a:prstGeom>
          <a:solidFill>
            <a:schemeClr val="bg2"/>
          </a:solidFill>
          <a:ln/>
        </p:spPr>
      </p:sp>
      <p:sp>
        <p:nvSpPr>
          <p:cNvPr id="8" name="Text 5"/>
          <p:cNvSpPr txBox="1"/>
          <p:nvPr/>
        </p:nvSpPr>
        <p:spPr>
          <a:xfrm>
            <a:off x="2011680" y="4480560"/>
            <a:ext cx="1353312" cy="438912"/>
          </a:xfrm>
          <a:prstGeom prst="rect">
            <a:avLst/>
          </a:prstGeom>
          <a:noFill/>
          <a:ln/>
        </p:spPr>
        <p:txBody>
          <a:bodyPr wrap="square" lIns="0" tIns="0" rIns="0" bIns="0" rtlCol="0" anchor="ctr"/>
          <a:lstStyle/>
          <a:p>
            <a:pPr algn="ctr" indent="0" marL="0">
              <a:buNone/>
            </a:pPr>
            <a:r>
              <a:rPr lang="en-US" sz="1300" dirty="0">
                <a:solidFill>
                  <a:schemeClr val="tx2"/>
                </a:solidFill>
              </a:rPr>
              <a:t>onnxruntime</a:t>
            </a:r>
            <a:endParaRPr lang="en-US" sz="1300" dirty="0"/>
          </a:p>
        </p:txBody>
      </p:sp>
      <p:sp>
        <p:nvSpPr>
          <p:cNvPr id="9" name="Shape 6"/>
          <p:cNvSpPr/>
          <p:nvPr/>
        </p:nvSpPr>
        <p:spPr>
          <a:xfrm>
            <a:off x="3474720" y="4480560"/>
            <a:ext cx="1353312" cy="438912"/>
          </a:xfrm>
          <a:prstGeom prst="roundRect">
            <a:avLst>
              <a:gd name="adj" fmla="val 50000"/>
            </a:avLst>
          </a:prstGeom>
          <a:solidFill>
            <a:schemeClr val="bg2"/>
          </a:solidFill>
          <a:ln/>
        </p:spPr>
      </p:sp>
      <p:sp>
        <p:nvSpPr>
          <p:cNvPr id="10" name="Text 7"/>
          <p:cNvSpPr txBox="1"/>
          <p:nvPr/>
        </p:nvSpPr>
        <p:spPr>
          <a:xfrm>
            <a:off x="3474720" y="4480560"/>
            <a:ext cx="1353312" cy="438912"/>
          </a:xfrm>
          <a:prstGeom prst="rect">
            <a:avLst/>
          </a:prstGeom>
          <a:noFill/>
          <a:ln/>
        </p:spPr>
        <p:txBody>
          <a:bodyPr wrap="square" lIns="0" tIns="0" rIns="0" bIns="0" rtlCol="0" anchor="ctr"/>
          <a:lstStyle/>
          <a:p>
            <a:pPr algn="ctr" indent="0" marL="0">
              <a:buNone/>
            </a:pPr>
            <a:r>
              <a:rPr lang="en-US" sz="1300" dirty="0">
                <a:solidFill>
                  <a:schemeClr val="tx2"/>
                </a:solidFill>
              </a:rPr>
              <a:t>NumPy</a:t>
            </a:r>
            <a:endParaRPr lang="en-US" sz="1300" dirty="0"/>
          </a:p>
        </p:txBody>
      </p:sp>
      <p:sp>
        <p:nvSpPr>
          <p:cNvPr id="11" name="Shape 8"/>
          <p:cNvSpPr/>
          <p:nvPr/>
        </p:nvSpPr>
        <p:spPr>
          <a:xfrm>
            <a:off x="4937760" y="4480560"/>
            <a:ext cx="1353312" cy="438912"/>
          </a:xfrm>
          <a:prstGeom prst="roundRect">
            <a:avLst>
              <a:gd name="adj" fmla="val 50000"/>
            </a:avLst>
          </a:prstGeom>
          <a:solidFill>
            <a:schemeClr val="bg2"/>
          </a:solidFill>
          <a:ln/>
        </p:spPr>
      </p:sp>
      <p:sp>
        <p:nvSpPr>
          <p:cNvPr id="12" name="Text 9"/>
          <p:cNvSpPr txBox="1"/>
          <p:nvPr/>
        </p:nvSpPr>
        <p:spPr>
          <a:xfrm>
            <a:off x="4937760" y="4480560"/>
            <a:ext cx="1353312" cy="438912"/>
          </a:xfrm>
          <a:prstGeom prst="rect">
            <a:avLst/>
          </a:prstGeom>
          <a:noFill/>
          <a:ln/>
        </p:spPr>
        <p:txBody>
          <a:bodyPr wrap="square" lIns="0" tIns="0" rIns="0" bIns="0" rtlCol="0" anchor="ctr"/>
          <a:lstStyle/>
          <a:p>
            <a:pPr algn="ctr" indent="0" marL="0">
              <a:buNone/>
            </a:pPr>
            <a:r>
              <a:rPr lang="en-US" sz="1300" dirty="0">
                <a:solidFill>
                  <a:schemeClr val="tx2"/>
                </a:solidFill>
              </a:rPr>
              <a:t>pandas</a:t>
            </a:r>
            <a:endParaRPr lang="en-US" sz="1300" dirty="0"/>
          </a:p>
        </p:txBody>
      </p:sp>
      <p:sp>
        <p:nvSpPr>
          <p:cNvPr id="13" name="Shape 10"/>
          <p:cNvSpPr/>
          <p:nvPr/>
        </p:nvSpPr>
        <p:spPr>
          <a:xfrm>
            <a:off x="548640" y="5047488"/>
            <a:ext cx="1353312" cy="438912"/>
          </a:xfrm>
          <a:prstGeom prst="roundRect">
            <a:avLst>
              <a:gd name="adj" fmla="val 50000"/>
            </a:avLst>
          </a:prstGeom>
          <a:solidFill>
            <a:schemeClr val="bg2"/>
          </a:solidFill>
          <a:ln/>
        </p:spPr>
      </p:sp>
      <p:sp>
        <p:nvSpPr>
          <p:cNvPr id="14" name="Text 11"/>
          <p:cNvSpPr txBox="1"/>
          <p:nvPr/>
        </p:nvSpPr>
        <p:spPr>
          <a:xfrm>
            <a:off x="548640" y="5047488"/>
            <a:ext cx="1353312" cy="438912"/>
          </a:xfrm>
          <a:prstGeom prst="rect">
            <a:avLst/>
          </a:prstGeom>
          <a:noFill/>
          <a:ln/>
        </p:spPr>
        <p:txBody>
          <a:bodyPr wrap="square" lIns="0" tIns="0" rIns="0" bIns="0" rtlCol="0" anchor="ctr"/>
          <a:lstStyle/>
          <a:p>
            <a:pPr algn="ctr" indent="0" marL="0">
              <a:buNone/>
            </a:pPr>
            <a:r>
              <a:rPr lang="en-US" sz="1300" dirty="0">
                <a:solidFill>
                  <a:schemeClr val="tx2"/>
                </a:solidFill>
              </a:rPr>
              <a:t>scikit-learn</a:t>
            </a:r>
            <a:endParaRPr lang="en-US" sz="1300" dirty="0"/>
          </a:p>
        </p:txBody>
      </p:sp>
      <p:sp>
        <p:nvSpPr>
          <p:cNvPr id="15" name="Shape 12"/>
          <p:cNvSpPr/>
          <p:nvPr/>
        </p:nvSpPr>
        <p:spPr>
          <a:xfrm>
            <a:off x="2011680" y="5047488"/>
            <a:ext cx="1353312" cy="438912"/>
          </a:xfrm>
          <a:prstGeom prst="roundRect">
            <a:avLst>
              <a:gd name="adj" fmla="val 50000"/>
            </a:avLst>
          </a:prstGeom>
          <a:solidFill>
            <a:schemeClr val="bg2"/>
          </a:solidFill>
          <a:ln/>
        </p:spPr>
      </p:sp>
      <p:sp>
        <p:nvSpPr>
          <p:cNvPr id="16" name="Text 13"/>
          <p:cNvSpPr txBox="1"/>
          <p:nvPr/>
        </p:nvSpPr>
        <p:spPr>
          <a:xfrm>
            <a:off x="2011680" y="5047488"/>
            <a:ext cx="1353312" cy="438912"/>
          </a:xfrm>
          <a:prstGeom prst="rect">
            <a:avLst/>
          </a:prstGeom>
          <a:noFill/>
          <a:ln/>
        </p:spPr>
        <p:txBody>
          <a:bodyPr wrap="square" lIns="0" tIns="0" rIns="0" bIns="0" rtlCol="0" anchor="ctr"/>
          <a:lstStyle/>
          <a:p>
            <a:pPr algn="ctr" indent="0" marL="0">
              <a:buNone/>
            </a:pPr>
            <a:r>
              <a:rPr lang="en-US" sz="1300" dirty="0">
                <a:solidFill>
                  <a:schemeClr val="tx2"/>
                </a:solidFill>
              </a:rPr>
              <a:t>Flask</a:t>
            </a:r>
            <a:endParaRPr lang="en-US" sz="1300" dirty="0"/>
          </a:p>
        </p:txBody>
      </p:sp>
      <p:sp>
        <p:nvSpPr>
          <p:cNvPr id="17" name="Shape 14"/>
          <p:cNvSpPr/>
          <p:nvPr/>
        </p:nvSpPr>
        <p:spPr>
          <a:xfrm>
            <a:off x="3474720" y="5047488"/>
            <a:ext cx="1353312" cy="438912"/>
          </a:xfrm>
          <a:prstGeom prst="roundRect">
            <a:avLst>
              <a:gd name="adj" fmla="val 50000"/>
            </a:avLst>
          </a:prstGeom>
          <a:solidFill>
            <a:schemeClr val="bg2"/>
          </a:solidFill>
          <a:ln/>
        </p:spPr>
      </p:sp>
      <p:sp>
        <p:nvSpPr>
          <p:cNvPr id="18" name="Text 15"/>
          <p:cNvSpPr txBox="1"/>
          <p:nvPr/>
        </p:nvSpPr>
        <p:spPr>
          <a:xfrm>
            <a:off x="3474720" y="5047488"/>
            <a:ext cx="1353312" cy="438912"/>
          </a:xfrm>
          <a:prstGeom prst="rect">
            <a:avLst/>
          </a:prstGeom>
          <a:noFill/>
          <a:ln/>
        </p:spPr>
        <p:txBody>
          <a:bodyPr wrap="square" lIns="0" tIns="0" rIns="0" bIns="0" rtlCol="0" anchor="ctr"/>
          <a:lstStyle/>
          <a:p>
            <a:pPr algn="ctr" indent="0" marL="0">
              <a:buNone/>
            </a:pPr>
            <a:r>
              <a:rPr lang="en-US" sz="1300" dirty="0">
                <a:solidFill>
                  <a:schemeClr val="tx2"/>
                </a:solidFill>
              </a:rPr>
              <a:t>Tailwind CSS</a:t>
            </a:r>
            <a:endParaRPr lang="en-US" sz="1300" dirty="0"/>
          </a:p>
        </p:txBody>
      </p:sp>
      <p:sp>
        <p:nvSpPr>
          <p:cNvPr id="19" name="Shape 16"/>
          <p:cNvSpPr/>
          <p:nvPr/>
        </p:nvSpPr>
        <p:spPr>
          <a:xfrm>
            <a:off x="4937760" y="5047488"/>
            <a:ext cx="1353312" cy="438912"/>
          </a:xfrm>
          <a:prstGeom prst="roundRect">
            <a:avLst>
              <a:gd name="adj" fmla="val 50000"/>
            </a:avLst>
          </a:prstGeom>
          <a:solidFill>
            <a:schemeClr val="bg2"/>
          </a:solidFill>
          <a:ln/>
        </p:spPr>
      </p:sp>
      <p:sp>
        <p:nvSpPr>
          <p:cNvPr id="20" name="Text 17"/>
          <p:cNvSpPr txBox="1"/>
          <p:nvPr/>
        </p:nvSpPr>
        <p:spPr>
          <a:xfrm>
            <a:off x="4937760" y="5047488"/>
            <a:ext cx="1353312" cy="438912"/>
          </a:xfrm>
          <a:prstGeom prst="rect">
            <a:avLst/>
          </a:prstGeom>
          <a:noFill/>
          <a:ln/>
        </p:spPr>
        <p:txBody>
          <a:bodyPr wrap="square" lIns="0" tIns="0" rIns="0" bIns="0" rtlCol="0" anchor="ctr"/>
          <a:lstStyle/>
          <a:p>
            <a:pPr algn="ctr" indent="0" marL="0">
              <a:buNone/>
            </a:pPr>
            <a:r>
              <a:rPr lang="en-US" sz="1300" dirty="0">
                <a:solidFill>
                  <a:schemeClr val="tx2"/>
                </a:solidFill>
              </a:rPr>
              <a:t>Chart.js</a:t>
            </a:r>
            <a:endParaRPr lang="en-US" sz="1300" dirty="0"/>
          </a:p>
        </p:txBody>
      </p:sp>
      <p:sp>
        <p:nvSpPr>
          <p:cNvPr id="21" name="Shape 18"/>
          <p:cNvSpPr/>
          <p:nvPr/>
        </p:nvSpPr>
        <p:spPr>
          <a:xfrm>
            <a:off x="6675120" y="1371600"/>
            <a:ext cx="4937760" cy="4480560"/>
          </a:xfrm>
          <a:prstGeom prst="roundRect">
            <a:avLst>
              <a:gd name="adj" fmla="val 2041"/>
            </a:avLst>
          </a:prstGeom>
          <a:solidFill>
            <a:schemeClr val="tx2"/>
          </a:solidFill>
          <a:ln/>
        </p:spPr>
      </p:sp>
      <p:sp>
        <p:nvSpPr>
          <p:cNvPr id="22" name="Text 19"/>
          <p:cNvSpPr txBox="1"/>
          <p:nvPr/>
        </p:nvSpPr>
        <p:spPr>
          <a:xfrm>
            <a:off x="6949440" y="1554480"/>
            <a:ext cx="4389120" cy="365760"/>
          </a:xfrm>
          <a:prstGeom prst="rect">
            <a:avLst/>
          </a:prstGeom>
          <a:noFill/>
          <a:ln/>
        </p:spPr>
        <p:txBody>
          <a:bodyPr wrap="square" lIns="0" tIns="0" rIns="0" bIns="0" rtlCol="0" anchor="t"/>
          <a:lstStyle/>
          <a:p>
            <a:pPr indent="0" marL="0">
              <a:buNone/>
            </a:pPr>
            <a:r>
              <a:rPr lang="en-US" sz="1400" b="1" dirty="0">
                <a:solidFill>
                  <a:schemeClr val="accent6"/>
                </a:solidFill>
              </a:rPr>
              <a:t>Core inference (app.py)</a:t>
            </a:r>
            <a:endParaRPr lang="en-US" sz="1400" dirty="0"/>
          </a:p>
        </p:txBody>
      </p:sp>
      <p:sp>
        <p:nvSpPr>
          <p:cNvPr id="23" name="Text 20"/>
          <p:cNvSpPr txBox="1"/>
          <p:nvPr/>
        </p:nvSpPr>
        <p:spPr>
          <a:xfrm>
            <a:off x="6949440" y="2011680"/>
            <a:ext cx="4480560" cy="365760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session = ort.InferenceSession(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"sepsis-model.onnx")</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blank or missing field -&gt; NaN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row = [nan if v is None else float(v)</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for v in payload_values]</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risk = session.run(["riskScore"],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{"input": np.array([row],</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dtype=np.float32)})[0][0]</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tier = ("High" if risk &gt;= 0.6 else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"Medium" if risk &gt;= 0.3 else "Low")</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Results &amp; Evaluation: Model Comparison</a:t>
            </a:r>
            <a:endParaRPr lang="en-US" sz="3400" dirty="0"/>
          </a:p>
        </p:txBody>
      </p:sp>
      <p:sp>
        <p:nvSpPr>
          <p:cNvPr id="3" name="Shape 1"/>
          <p:cNvSpPr/>
          <p:nvPr/>
        </p:nvSpPr>
        <p:spPr>
          <a:xfrm>
            <a:off x="548640" y="1371600"/>
            <a:ext cx="3017520" cy="1051560"/>
          </a:xfrm>
          <a:prstGeom prst="roundRect">
            <a:avLst>
              <a:gd name="adj" fmla="val 8696"/>
            </a:avLst>
          </a:prstGeom>
          <a:solidFill>
            <a:schemeClr val="bg2"/>
          </a:solidFill>
          <a:ln/>
        </p:spPr>
      </p:sp>
      <p:sp>
        <p:nvSpPr>
          <p:cNvPr id="4" name="Text 2"/>
          <p:cNvSpPr txBox="1"/>
          <p:nvPr/>
        </p:nvSpPr>
        <p:spPr>
          <a:xfrm>
            <a:off x="777240" y="1444752"/>
            <a:ext cx="265176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0.874</a:t>
            </a:r>
            <a:endParaRPr lang="en-US" sz="3000" dirty="0"/>
          </a:p>
        </p:txBody>
      </p:sp>
      <p:sp>
        <p:nvSpPr>
          <p:cNvPr id="5" name="Text 3"/>
          <p:cNvSpPr txBox="1"/>
          <p:nvPr/>
        </p:nvSpPr>
        <p:spPr>
          <a:xfrm>
            <a:off x="777240" y="2011680"/>
            <a:ext cx="2651760" cy="320040"/>
          </a:xfrm>
          <a:prstGeom prst="rect">
            <a:avLst/>
          </a:prstGeom>
          <a:noFill/>
          <a:ln/>
        </p:spPr>
        <p:txBody>
          <a:bodyPr wrap="square" lIns="0" tIns="0" rIns="0" bIns="0" rtlCol="0" anchor="t"/>
          <a:lstStyle/>
          <a:p>
            <a:pPr indent="0" marL="0">
              <a:buNone/>
            </a:pPr>
            <a:r>
              <a:rPr lang="en-US" sz="1300" dirty="0">
                <a:solidFill>
                  <a:schemeClr val="accent5"/>
                </a:solidFill>
              </a:rPr>
              <a:t>AUROC</a:t>
            </a:r>
            <a:endParaRPr lang="en-US" sz="1300" dirty="0"/>
          </a:p>
        </p:txBody>
      </p:sp>
      <p:sp>
        <p:nvSpPr>
          <p:cNvPr id="6" name="Shape 4"/>
          <p:cNvSpPr/>
          <p:nvPr/>
        </p:nvSpPr>
        <p:spPr>
          <a:xfrm>
            <a:off x="548640" y="2560320"/>
            <a:ext cx="3017520" cy="1051560"/>
          </a:xfrm>
          <a:prstGeom prst="roundRect">
            <a:avLst>
              <a:gd name="adj" fmla="val 8696"/>
            </a:avLst>
          </a:prstGeom>
          <a:solidFill>
            <a:schemeClr val="bg2"/>
          </a:solidFill>
          <a:ln/>
        </p:spPr>
      </p:sp>
      <p:sp>
        <p:nvSpPr>
          <p:cNvPr id="7" name="Text 5"/>
          <p:cNvSpPr txBox="1"/>
          <p:nvPr/>
        </p:nvSpPr>
        <p:spPr>
          <a:xfrm>
            <a:off x="777240" y="2633472"/>
            <a:ext cx="265176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0.278</a:t>
            </a:r>
            <a:endParaRPr lang="en-US" sz="3000" dirty="0"/>
          </a:p>
        </p:txBody>
      </p:sp>
      <p:sp>
        <p:nvSpPr>
          <p:cNvPr id="8" name="Text 6"/>
          <p:cNvSpPr txBox="1"/>
          <p:nvPr/>
        </p:nvSpPr>
        <p:spPr>
          <a:xfrm>
            <a:off x="777240" y="3200400"/>
            <a:ext cx="2651760" cy="320040"/>
          </a:xfrm>
          <a:prstGeom prst="rect">
            <a:avLst/>
          </a:prstGeom>
          <a:noFill/>
          <a:ln/>
        </p:spPr>
        <p:txBody>
          <a:bodyPr wrap="square" lIns="0" tIns="0" rIns="0" bIns="0" rtlCol="0" anchor="t"/>
          <a:lstStyle/>
          <a:p>
            <a:pPr indent="0" marL="0">
              <a:buNone/>
            </a:pPr>
            <a:r>
              <a:rPr lang="en-US" sz="1300" dirty="0">
                <a:solidFill>
                  <a:schemeClr val="accent5"/>
                </a:solidFill>
              </a:rPr>
              <a:t>AUPRC (9.2× base rate)</a:t>
            </a:r>
            <a:endParaRPr lang="en-US" sz="1300" dirty="0"/>
          </a:p>
        </p:txBody>
      </p:sp>
      <p:sp>
        <p:nvSpPr>
          <p:cNvPr id="9" name="Shape 7"/>
          <p:cNvSpPr/>
          <p:nvPr/>
        </p:nvSpPr>
        <p:spPr>
          <a:xfrm>
            <a:off x="548640" y="3749040"/>
            <a:ext cx="3017520" cy="1051560"/>
          </a:xfrm>
          <a:prstGeom prst="roundRect">
            <a:avLst>
              <a:gd name="adj" fmla="val 8696"/>
            </a:avLst>
          </a:prstGeom>
          <a:solidFill>
            <a:schemeClr val="bg2"/>
          </a:solidFill>
          <a:ln/>
        </p:spPr>
      </p:sp>
      <p:sp>
        <p:nvSpPr>
          <p:cNvPr id="10" name="Text 8"/>
          <p:cNvSpPr txBox="1"/>
          <p:nvPr/>
        </p:nvSpPr>
        <p:spPr>
          <a:xfrm>
            <a:off x="777240" y="3822192"/>
            <a:ext cx="265176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53%</a:t>
            </a:r>
            <a:endParaRPr lang="en-US" sz="3000" dirty="0"/>
          </a:p>
        </p:txBody>
      </p:sp>
      <p:sp>
        <p:nvSpPr>
          <p:cNvPr id="11" name="Text 9"/>
          <p:cNvSpPr txBox="1"/>
          <p:nvPr/>
        </p:nvSpPr>
        <p:spPr>
          <a:xfrm>
            <a:off x="777240" y="4389120"/>
            <a:ext cx="2651760" cy="320040"/>
          </a:xfrm>
          <a:prstGeom prst="rect">
            <a:avLst/>
          </a:prstGeom>
          <a:noFill/>
          <a:ln/>
        </p:spPr>
        <p:txBody>
          <a:bodyPr wrap="square" lIns="0" tIns="0" rIns="0" bIns="0" rtlCol="0" anchor="t"/>
          <a:lstStyle/>
          <a:p>
            <a:pPr indent="0" marL="0">
              <a:buNone/>
            </a:pPr>
            <a:r>
              <a:rPr lang="en-US" sz="1300" dirty="0">
                <a:solidFill>
                  <a:schemeClr val="accent5"/>
                </a:solidFill>
              </a:rPr>
              <a:t>sensitivity at ≥ 0.6</a:t>
            </a:r>
            <a:endParaRPr lang="en-US" sz="1300" dirty="0"/>
          </a:p>
        </p:txBody>
      </p:sp>
      <p:sp>
        <p:nvSpPr>
          <p:cNvPr id="12" name="Shape 10"/>
          <p:cNvSpPr/>
          <p:nvPr/>
        </p:nvSpPr>
        <p:spPr>
          <a:xfrm>
            <a:off x="548640" y="4937760"/>
            <a:ext cx="3017520" cy="1051560"/>
          </a:xfrm>
          <a:prstGeom prst="roundRect">
            <a:avLst>
              <a:gd name="adj" fmla="val 8696"/>
            </a:avLst>
          </a:prstGeom>
          <a:solidFill>
            <a:schemeClr val="bg2"/>
          </a:solidFill>
          <a:ln/>
        </p:spPr>
      </p:sp>
      <p:sp>
        <p:nvSpPr>
          <p:cNvPr id="13" name="Text 11"/>
          <p:cNvSpPr txBox="1"/>
          <p:nvPr/>
        </p:nvSpPr>
        <p:spPr>
          <a:xfrm>
            <a:off x="777240" y="5010912"/>
            <a:ext cx="265176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94%</a:t>
            </a:r>
            <a:endParaRPr lang="en-US" sz="3000" dirty="0"/>
          </a:p>
        </p:txBody>
      </p:sp>
      <p:sp>
        <p:nvSpPr>
          <p:cNvPr id="14" name="Text 12"/>
          <p:cNvSpPr txBox="1"/>
          <p:nvPr/>
        </p:nvSpPr>
        <p:spPr>
          <a:xfrm>
            <a:off x="777240" y="5577840"/>
            <a:ext cx="2651760" cy="320040"/>
          </a:xfrm>
          <a:prstGeom prst="rect">
            <a:avLst/>
          </a:prstGeom>
          <a:noFill/>
          <a:ln/>
        </p:spPr>
        <p:txBody>
          <a:bodyPr wrap="square" lIns="0" tIns="0" rIns="0" bIns="0" rtlCol="0" anchor="t"/>
          <a:lstStyle/>
          <a:p>
            <a:pPr indent="0" marL="0">
              <a:buNone/>
            </a:pPr>
            <a:r>
              <a:rPr lang="en-US" sz="1300" dirty="0">
                <a:solidFill>
                  <a:schemeClr val="accent5"/>
                </a:solidFill>
              </a:rPr>
              <a:t>specificity at ≥ 0.6</a:t>
            </a:r>
            <a:endParaRPr lang="en-US" sz="1300" dirty="0"/>
          </a:p>
        </p:txBody>
      </p:sp>
      <p:graphicFrame>
        <p:nvGraphicFramePr>
          <p:cNvPr id="15" name="Chart 0" descr=""/>
          <p:cNvGraphicFramePr/>
          <p:nvPr/>
        </p:nvGraphicFramePr>
        <p:xfrm>
          <a:off x="3840480" y="1325880"/>
          <a:ext cx="7772400" cy="393192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3840480" y="5394960"/>
            <a:ext cx="7772400" cy="868680"/>
          </a:xfrm>
          <a:prstGeom prst="rect">
            <a:avLst/>
          </a:prstGeom>
          <a:noFill/>
          <a:ln/>
        </p:spPr>
        <p:txBody>
          <a:bodyPr wrap="square" lIns="0" tIns="0" rIns="0" bIns="0" rtlCol="0" anchor="t"/>
          <a:lstStyle/>
          <a:p>
            <a:pPr indent="0" marL="0">
              <a:buNone/>
            </a:pPr>
            <a:r>
              <a:rPr lang="en-US" sz="1400" b="1" dirty="0">
                <a:solidFill>
                  <a:schemeClr val="accent2"/>
                </a:solidFill>
              </a:rPr>
              <a:t>Best on this data: partial NEWS2. </a:t>
            </a:r>
            <a:pPr indent="0" marL="0">
              <a:buNone/>
            </a:pPr>
            <a:r>
              <a:rPr lang="en-US" sz="1400" dirty="0">
                <a:solidFill>
                  <a:schemeClr val="tx1"/>
                </a:solidFill>
              </a:rPr>
              <a:t>We keep the ONNX model in the app because it works with any subset of vitals and gives a calibrated, tiered score. The rules score well here because our generator shifts vitals across exactly their thresholds (see Challenges).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Results &amp; Evaluation: Risk Tiers &amp; Errors</a:t>
            </a:r>
            <a:endParaRPr lang="en-US" sz="3400" dirty="0"/>
          </a:p>
        </p:txBody>
      </p:sp>
      <p:graphicFrame>
        <p:nvGraphicFramePr>
          <p:cNvPr id="3" name="Chart 0" descr=""/>
          <p:cNvGraphicFramePr/>
          <p:nvPr/>
        </p:nvGraphicFramePr>
        <p:xfrm>
          <a:off x="548640" y="132588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623560"/>
            <a:ext cx="5852160" cy="548640"/>
          </a:xfrm>
          <a:prstGeom prst="rect">
            <a:avLst/>
          </a:prstGeom>
          <a:noFill/>
          <a:ln/>
        </p:spPr>
        <p:txBody>
          <a:bodyPr wrap="square" lIns="0" tIns="0" rIns="0" bIns="0" rtlCol="0" anchor="t"/>
          <a:lstStyle/>
          <a:p>
            <a:pPr indent="0" marL="0">
              <a:buNone/>
            </a:pPr>
            <a:r>
              <a:rPr lang="en-US" sz="1500" i="1" dirty="0">
                <a:solidFill>
                  <a:schemeClr val="accent1"/>
                </a:solidFill>
              </a:rPr>
              <a:t>High tier is 22× riskier than Low; the tiers rank patients correctly.</a:t>
            </a:r>
            <a:endParaRPr lang="en-US" sz="1500" dirty="0"/>
          </a:p>
        </p:txBody>
      </p:sp>
      <p:sp>
        <p:nvSpPr>
          <p:cNvPr id="5" name="Text 2"/>
          <p:cNvSpPr txBox="1"/>
          <p:nvPr/>
        </p:nvSpPr>
        <p:spPr>
          <a:xfrm>
            <a:off x="6858000" y="1371600"/>
            <a:ext cx="4754880" cy="365760"/>
          </a:xfrm>
          <a:prstGeom prst="rect">
            <a:avLst/>
          </a:prstGeom>
          <a:noFill/>
          <a:ln/>
        </p:spPr>
        <p:txBody>
          <a:bodyPr wrap="square" lIns="0" tIns="0" rIns="0" bIns="0" rtlCol="0" anchor="t"/>
          <a:lstStyle/>
          <a:p>
            <a:pPr indent="0" marL="0">
              <a:buNone/>
            </a:pPr>
            <a:r>
              <a:rPr lang="en-US" sz="1600" b="1" dirty="0">
                <a:solidFill>
                  <a:schemeClr val="tx2"/>
                </a:solidFill>
              </a:rPr>
              <a:t>Confusion matrix at the High cutoff (0.6)</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0" y="1828800"/>
          <a:ext cx="4754880" cy="914400"/>
        </p:xfrm>
        <a:graphic>
          <a:graphicData uri="http://schemas.openxmlformats.org/drawingml/2006/table">
            <a:tbl>
              <a:tblPr/>
              <a:tblGrid>
                <a:gridCol w="1371600"/>
                <a:gridCol w="1691640"/>
                <a:gridCol w="1691640"/>
              </a:tblGrid>
              <a:tr h="502920">
                <a:tc>
                  <a:txBody>
                    <a:bodyPr/>
                    <a:lstStyle/>
                    <a:p>
                      <a:pPr algn="ctr" indent="0" marL="0">
                        <a:buNone/>
                      </a:pPr>
                      <a:endParaRPr lang="en-US" sz="1500" dirty="0">
                        <a:latin typeface="Calibri" charset="0"/>
                        <a:ea typeface="Calibri" charset="0"/>
                        <a:cs typeface="Calibri" charset="0"/>
                      </a:endParaRPr>
                    </a:p>
                  </a:txBody>
                  <a:tcPr marL="91440" marR="91440" marT="45720" marB="45720"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2"/>
                          </a:solidFill>
                          <a:latin typeface="Calibri" pitchFamily="34" charset="0"/>
                          <a:ea typeface="Calibri" pitchFamily="34" charset="-122"/>
                          <a:cs typeface="Calibri" pitchFamily="34" charset="-120"/>
                        </a:rPr>
                        <a:t>Predicted +</a:t>
                      </a:r>
                      <a:endParaRPr lang="en-US" sz="1500" dirty="0">
                        <a:latin typeface="Calibri" charset="0"/>
                        <a:ea typeface="Calibri" charset="0"/>
                        <a:cs typeface="Calibri" charset="0"/>
                      </a:endParaRPr>
                    </a:p>
                  </a:txBody>
                  <a:tcPr marL="91440" marR="91440" marT="45720" marB="45720"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2"/>
                          </a:solidFill>
                          <a:latin typeface="Calibri" pitchFamily="34" charset="0"/>
                          <a:ea typeface="Calibri" pitchFamily="34" charset="-122"/>
                          <a:cs typeface="Calibri" pitchFamily="34" charset="-120"/>
                        </a:rPr>
                        <a:t>Predicted −</a:t>
                      </a:r>
                      <a:endParaRPr lang="en-US" sz="1500" dirty="0">
                        <a:latin typeface="Calibri" charset="0"/>
                        <a:ea typeface="Calibri" charset="0"/>
                        <a:cs typeface="Calibri" charset="0"/>
                      </a:endParaRPr>
                    </a:p>
                  </a:txBody>
                  <a:tcPr marL="91440" marR="91440" marT="45720" marB="45720"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solidFill>
                      <a:schemeClr val="bg2"/>
                    </a:solidFill>
                  </a:tcPr>
                </a:tc>
              </a:tr>
              <a:tr h="502920">
                <a:tc>
                  <a:txBody>
                    <a:bodyPr/>
                    <a:lstStyle/>
                    <a:p>
                      <a:pPr algn="ctr" indent="0" marL="0">
                        <a:buNone/>
                      </a:pPr>
                      <a:r>
                        <a:rPr lang="en-US" sz="1500" b="1" dirty="0">
                          <a:solidFill>
                            <a:schemeClr val="tx2"/>
                          </a:solidFill>
                          <a:latin typeface="Calibri" pitchFamily="34" charset="0"/>
                          <a:ea typeface="Calibri" pitchFamily="34" charset="-122"/>
                          <a:cs typeface="Calibri" pitchFamily="34" charset="-120"/>
                        </a:rPr>
                        <a:t>Actual +</a:t>
                      </a:r>
                      <a:endParaRPr lang="en-US" sz="1500" dirty="0">
                        <a:latin typeface="Calibri" charset="0"/>
                        <a:ea typeface="Calibri" charset="0"/>
                        <a:cs typeface="Calibri" charset="0"/>
                      </a:endParaRPr>
                    </a:p>
                  </a:txBody>
                  <a:tcPr marL="91440" marR="91440" marT="45720" marB="45720"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4"/>
                          </a:solidFill>
                          <a:latin typeface="Calibri" pitchFamily="34" charset="0"/>
                          <a:ea typeface="Calibri" pitchFamily="34" charset="-122"/>
                          <a:cs typeface="Calibri" pitchFamily="34" charset="-120"/>
                        </a:rPr>
                        <a:t>TP 191</a:t>
                      </a:r>
                      <a:endParaRPr lang="en-US" sz="1500" dirty="0">
                        <a:latin typeface="Calibri" charset="0"/>
                        <a:ea typeface="Calibri" charset="0"/>
                        <a:cs typeface="Calibri" charset="0"/>
                      </a:endParaRPr>
                    </a:p>
                  </a:txBody>
                  <a:tcPr marL="91440" marR="91440" marT="45720" marB="45720"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tcPr>
                </a:tc>
                <a:tc>
                  <a:txBody>
                    <a:bodyPr/>
                    <a:lstStyle/>
                    <a:p>
                      <a:pPr algn="ctr" indent="0" marL="0">
                        <a:buNone/>
                      </a:pPr>
                      <a:r>
                        <a:rPr lang="en-US" sz="1500" dirty="0">
                          <a:solidFill>
                            <a:schemeClr val="accent2"/>
                          </a:solidFill>
                          <a:latin typeface="Calibri" pitchFamily="34" charset="0"/>
                          <a:ea typeface="Calibri" pitchFamily="34" charset="-122"/>
                          <a:cs typeface="Calibri" pitchFamily="34" charset="-120"/>
                        </a:rPr>
                        <a:t>FN 168</a:t>
                      </a:r>
                      <a:endParaRPr lang="en-US" sz="1500" dirty="0">
                        <a:latin typeface="Calibri" charset="0"/>
                        <a:ea typeface="Calibri" charset="0"/>
                        <a:cs typeface="Calibri" charset="0"/>
                      </a:endParaRPr>
                    </a:p>
                  </a:txBody>
                  <a:tcPr marL="91440" marR="91440" marT="45720" marB="45720"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tcPr>
                </a:tc>
              </a:tr>
              <a:tr h="502920">
                <a:tc>
                  <a:txBody>
                    <a:bodyPr/>
                    <a:lstStyle/>
                    <a:p>
                      <a:pPr algn="ctr" indent="0" marL="0">
                        <a:buNone/>
                      </a:pPr>
                      <a:r>
                        <a:rPr lang="en-US" sz="1500" b="1" dirty="0">
                          <a:solidFill>
                            <a:schemeClr val="tx2"/>
                          </a:solidFill>
                          <a:latin typeface="Calibri" pitchFamily="34" charset="0"/>
                          <a:ea typeface="Calibri" pitchFamily="34" charset="-122"/>
                          <a:cs typeface="Calibri" pitchFamily="34" charset="-120"/>
                        </a:rPr>
                        <a:t>Actual −</a:t>
                      </a:r>
                      <a:endParaRPr lang="en-US" sz="1500" dirty="0">
                        <a:latin typeface="Calibri" charset="0"/>
                        <a:ea typeface="Calibri" charset="0"/>
                        <a:cs typeface="Calibri" charset="0"/>
                      </a:endParaRPr>
                    </a:p>
                  </a:txBody>
                  <a:tcPr marL="91440" marR="91440" marT="45720" marB="45720"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accent2"/>
                          </a:solidFill>
                          <a:latin typeface="Calibri" pitchFamily="34" charset="0"/>
                          <a:ea typeface="Calibri" pitchFamily="34" charset="-122"/>
                          <a:cs typeface="Calibri" pitchFamily="34" charset="-120"/>
                        </a:rPr>
                        <a:t>FP 700</a:t>
                      </a:r>
                      <a:endParaRPr lang="en-US" sz="1500" dirty="0">
                        <a:latin typeface="Calibri" charset="0"/>
                        <a:ea typeface="Calibri" charset="0"/>
                        <a:cs typeface="Calibri" charset="0"/>
                      </a:endParaRPr>
                    </a:p>
                  </a:txBody>
                  <a:tcPr marL="91440" marR="91440" marT="45720" marB="45720"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tcPr>
                </a:tc>
                <a:tc>
                  <a:txBody>
                    <a:bodyPr/>
                    <a:lstStyle/>
                    <a:p>
                      <a:pPr algn="ctr" indent="0" marL="0">
                        <a:buNone/>
                      </a:pPr>
                      <a:r>
                        <a:rPr lang="en-US" sz="1500" b="1" dirty="0">
                          <a:solidFill>
                            <a:schemeClr val="accent4"/>
                          </a:solidFill>
                          <a:latin typeface="Calibri" pitchFamily="34" charset="0"/>
                          <a:ea typeface="Calibri" pitchFamily="34" charset="-122"/>
                          <a:cs typeface="Calibri" pitchFamily="34" charset="-120"/>
                        </a:rPr>
                        <a:t>TN 10,858</a:t>
                      </a:r>
                      <a:endParaRPr lang="en-US" sz="1500" dirty="0">
                        <a:latin typeface="Calibri" charset="0"/>
                        <a:ea typeface="Calibri" charset="0"/>
                        <a:cs typeface="Calibri" charset="0"/>
                      </a:endParaRPr>
                    </a:p>
                  </a:txBody>
                  <a:tcPr marL="91440" marR="91440" marT="45720" marB="45720" anchor="ctr">
                    <a:lnL w="9525" cap="flat" cmpd="sng" algn="ctr">
                      <a:solidFill>
                        <a:srgbClr val="D7E3E1"/>
                      </a:solidFill>
                      <a:prstDash val="solid"/>
                      <a:round/>
                      <a:headEnd type="none" w="med" len="med"/>
                      <a:tailEnd type="none" w="med" len="med"/>
                    </a:lnL>
                    <a:lnR w="9525" cap="flat" cmpd="sng" algn="ctr">
                      <a:solidFill>
                        <a:srgbClr val="D7E3E1"/>
                      </a:solidFill>
                      <a:prstDash val="solid"/>
                      <a:round/>
                      <a:headEnd type="none" w="med" len="med"/>
                      <a:tailEnd type="none" w="med" len="med"/>
                    </a:lnR>
                    <a:lnT w="9525" cap="flat" cmpd="sng" algn="ctr">
                      <a:solidFill>
                        <a:srgbClr val="D7E3E1"/>
                      </a:solidFill>
                      <a:prstDash val="solid"/>
                      <a:round/>
                      <a:headEnd type="none" w="med" len="med"/>
                      <a:tailEnd type="none" w="med" len="med"/>
                    </a:lnT>
                    <a:lnB w="9525" cap="flat" cmpd="sng" algn="ctr">
                      <a:solidFill>
                        <a:srgbClr val="D7E3E1"/>
                      </a:solidFill>
                      <a:prstDash val="solid"/>
                      <a:round/>
                      <a:headEnd type="none" w="med" len="med"/>
                      <a:tailEnd type="none" w="med" len="med"/>
                    </a:lnB>
                  </a:tcPr>
                </a:tc>
              </a:tr>
            </a:tbl>
          </a:graphicData>
        </a:graphic>
      </p:graphicFrame>
      <p:sp>
        <p:nvSpPr>
          <p:cNvPr id="7" name="Shape 3"/>
          <p:cNvSpPr/>
          <p:nvPr/>
        </p:nvSpPr>
        <p:spPr>
          <a:xfrm>
            <a:off x="6858000" y="3566160"/>
            <a:ext cx="1463040" cy="868680"/>
          </a:xfrm>
          <a:prstGeom prst="roundRect">
            <a:avLst>
              <a:gd name="adj" fmla="val 10526"/>
            </a:avLst>
          </a:prstGeom>
          <a:solidFill>
            <a:schemeClr val="bg2"/>
          </a:solidFill>
          <a:ln/>
        </p:spPr>
      </p:sp>
      <p:sp>
        <p:nvSpPr>
          <p:cNvPr id="8" name="Text 4"/>
          <p:cNvSpPr txBox="1"/>
          <p:nvPr/>
        </p:nvSpPr>
        <p:spPr>
          <a:xfrm>
            <a:off x="6858000" y="3611880"/>
            <a:ext cx="1463040" cy="457200"/>
          </a:xfrm>
          <a:prstGeom prst="rect">
            <a:avLst/>
          </a:prstGeom>
          <a:noFill/>
          <a:ln/>
        </p:spPr>
        <p:txBody>
          <a:bodyPr wrap="square" lIns="0" tIns="0" rIns="0" bIns="0" rtlCol="0" anchor="t"/>
          <a:lstStyle/>
          <a:p>
            <a:pPr algn="ctr" indent="0" marL="0">
              <a:buNone/>
            </a:pPr>
            <a:r>
              <a:rPr lang="en-US" sz="2200" b="1" dirty="0">
                <a:solidFill>
                  <a:schemeClr val="accent1"/>
                </a:solidFill>
              </a:rPr>
              <a:t>21%</a:t>
            </a:r>
            <a:endParaRPr lang="en-US" sz="2200" dirty="0"/>
          </a:p>
        </p:txBody>
      </p:sp>
      <p:sp>
        <p:nvSpPr>
          <p:cNvPr id="9" name="Text 5"/>
          <p:cNvSpPr txBox="1"/>
          <p:nvPr/>
        </p:nvSpPr>
        <p:spPr>
          <a:xfrm>
            <a:off x="6858000" y="4069080"/>
            <a:ext cx="1463040" cy="320040"/>
          </a:xfrm>
          <a:prstGeom prst="rect">
            <a:avLst/>
          </a:prstGeom>
          <a:noFill/>
          <a:ln/>
        </p:spPr>
        <p:txBody>
          <a:bodyPr wrap="square" lIns="0" tIns="0" rIns="0" bIns="0" rtlCol="0" anchor="t"/>
          <a:lstStyle/>
          <a:p>
            <a:pPr algn="ctr" indent="0" marL="0">
              <a:buNone/>
            </a:pPr>
            <a:r>
              <a:rPr lang="en-US" sz="1300" dirty="0">
                <a:solidFill>
                  <a:schemeClr val="accent5"/>
                </a:solidFill>
              </a:rPr>
              <a:t>PPV</a:t>
            </a:r>
            <a:endParaRPr lang="en-US" sz="1300" dirty="0"/>
          </a:p>
        </p:txBody>
      </p:sp>
      <p:sp>
        <p:nvSpPr>
          <p:cNvPr id="10" name="Shape 6"/>
          <p:cNvSpPr/>
          <p:nvPr/>
        </p:nvSpPr>
        <p:spPr>
          <a:xfrm>
            <a:off x="8503920" y="3566160"/>
            <a:ext cx="1463040" cy="868680"/>
          </a:xfrm>
          <a:prstGeom prst="roundRect">
            <a:avLst>
              <a:gd name="adj" fmla="val 10526"/>
            </a:avLst>
          </a:prstGeom>
          <a:solidFill>
            <a:schemeClr val="bg2"/>
          </a:solidFill>
          <a:ln/>
        </p:spPr>
      </p:sp>
      <p:sp>
        <p:nvSpPr>
          <p:cNvPr id="11" name="Text 7"/>
          <p:cNvSpPr txBox="1"/>
          <p:nvPr/>
        </p:nvSpPr>
        <p:spPr>
          <a:xfrm>
            <a:off x="8503920" y="3611880"/>
            <a:ext cx="1463040" cy="457200"/>
          </a:xfrm>
          <a:prstGeom prst="rect">
            <a:avLst/>
          </a:prstGeom>
          <a:noFill/>
          <a:ln/>
        </p:spPr>
        <p:txBody>
          <a:bodyPr wrap="square" lIns="0" tIns="0" rIns="0" bIns="0" rtlCol="0" anchor="t"/>
          <a:lstStyle/>
          <a:p>
            <a:pPr algn="ctr" indent="0" marL="0">
              <a:buNone/>
            </a:pPr>
            <a:r>
              <a:rPr lang="en-US" sz="2200" b="1" dirty="0">
                <a:solidFill>
                  <a:schemeClr val="accent1"/>
                </a:solidFill>
              </a:rPr>
              <a:t>98.5%</a:t>
            </a:r>
            <a:endParaRPr lang="en-US" sz="2200" dirty="0"/>
          </a:p>
        </p:txBody>
      </p:sp>
      <p:sp>
        <p:nvSpPr>
          <p:cNvPr id="12" name="Text 8"/>
          <p:cNvSpPr txBox="1"/>
          <p:nvPr/>
        </p:nvSpPr>
        <p:spPr>
          <a:xfrm>
            <a:off x="8503920" y="4069080"/>
            <a:ext cx="1463040" cy="320040"/>
          </a:xfrm>
          <a:prstGeom prst="rect">
            <a:avLst/>
          </a:prstGeom>
          <a:noFill/>
          <a:ln/>
        </p:spPr>
        <p:txBody>
          <a:bodyPr wrap="square" lIns="0" tIns="0" rIns="0" bIns="0" rtlCol="0" anchor="t"/>
          <a:lstStyle/>
          <a:p>
            <a:pPr algn="ctr" indent="0" marL="0">
              <a:buNone/>
            </a:pPr>
            <a:r>
              <a:rPr lang="en-US" sz="1300" dirty="0">
                <a:solidFill>
                  <a:schemeClr val="accent5"/>
                </a:solidFill>
              </a:rPr>
              <a:t>NPV</a:t>
            </a:r>
            <a:endParaRPr lang="en-US" sz="1300" dirty="0"/>
          </a:p>
        </p:txBody>
      </p:sp>
      <p:sp>
        <p:nvSpPr>
          <p:cNvPr id="13" name="Shape 9"/>
          <p:cNvSpPr/>
          <p:nvPr/>
        </p:nvSpPr>
        <p:spPr>
          <a:xfrm>
            <a:off x="10149840" y="3566160"/>
            <a:ext cx="1463040" cy="868680"/>
          </a:xfrm>
          <a:prstGeom prst="roundRect">
            <a:avLst>
              <a:gd name="adj" fmla="val 10526"/>
            </a:avLst>
          </a:prstGeom>
          <a:solidFill>
            <a:schemeClr val="bg2"/>
          </a:solidFill>
          <a:ln/>
        </p:spPr>
      </p:sp>
      <p:sp>
        <p:nvSpPr>
          <p:cNvPr id="14" name="Text 10"/>
          <p:cNvSpPr txBox="1"/>
          <p:nvPr/>
        </p:nvSpPr>
        <p:spPr>
          <a:xfrm>
            <a:off x="10149840" y="3611880"/>
            <a:ext cx="1463040" cy="457200"/>
          </a:xfrm>
          <a:prstGeom prst="rect">
            <a:avLst/>
          </a:prstGeom>
          <a:noFill/>
          <a:ln/>
        </p:spPr>
        <p:txBody>
          <a:bodyPr wrap="square" lIns="0" tIns="0" rIns="0" bIns="0" rtlCol="0" anchor="t"/>
          <a:lstStyle/>
          <a:p>
            <a:pPr algn="ctr" indent="0" marL="0">
              <a:buNone/>
            </a:pPr>
            <a:r>
              <a:rPr lang="en-US" sz="2200" b="1" dirty="0">
                <a:solidFill>
                  <a:schemeClr val="accent1"/>
                </a:solidFill>
              </a:rPr>
              <a:t>0.31</a:t>
            </a:r>
            <a:endParaRPr lang="en-US" sz="2200" dirty="0"/>
          </a:p>
        </p:txBody>
      </p:sp>
      <p:sp>
        <p:nvSpPr>
          <p:cNvPr id="15" name="Text 11"/>
          <p:cNvSpPr txBox="1"/>
          <p:nvPr/>
        </p:nvSpPr>
        <p:spPr>
          <a:xfrm>
            <a:off x="10149840" y="4069080"/>
            <a:ext cx="1463040" cy="320040"/>
          </a:xfrm>
          <a:prstGeom prst="rect">
            <a:avLst/>
          </a:prstGeom>
          <a:noFill/>
          <a:ln/>
        </p:spPr>
        <p:txBody>
          <a:bodyPr wrap="square" lIns="0" tIns="0" rIns="0" bIns="0" rtlCol="0" anchor="t"/>
          <a:lstStyle/>
          <a:p>
            <a:pPr algn="ctr" indent="0" marL="0">
              <a:buNone/>
            </a:pPr>
            <a:r>
              <a:rPr lang="en-US" sz="1300" dirty="0">
                <a:solidFill>
                  <a:schemeClr val="accent5"/>
                </a:solidFill>
              </a:rPr>
              <a:t>F1</a:t>
            </a:r>
            <a:endParaRPr lang="en-US" sz="1300" dirty="0"/>
          </a:p>
        </p:txBody>
      </p:sp>
      <p:sp>
        <p:nvSpPr>
          <p:cNvPr id="16" name="Text 12"/>
          <p:cNvSpPr txBox="1"/>
          <p:nvPr/>
        </p:nvSpPr>
        <p:spPr>
          <a:xfrm>
            <a:off x="6858000" y="4663440"/>
            <a:ext cx="475488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17 of 29 septic patients reached High before onset; median lead time 7 h.</a:t>
            </a:r>
            <a:endParaRPr lang="en-US" sz="1400" dirty="0"/>
          </a:p>
          <a:p>
            <a:pPr marL="342900" indent="-342900">
              <a:spcAft>
                <a:spcPts val="600"/>
              </a:spcAft>
              <a:buSzPct val="100000"/>
              <a:buChar char="•"/>
            </a:pPr>
            <a:r>
              <a:rPr lang="en-US" sz="1400" dirty="0">
                <a:solidFill>
                  <a:schemeClr val="tx1"/>
                </a:solidFill>
              </a:rPr>
              <a:t>103 of 371 non-septic patients reached High at least once, so alerts need clinician review.</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Application / Output</a:t>
            </a:r>
            <a:endParaRPr lang="en-US" sz="3400" dirty="0"/>
          </a:p>
        </p:txBody>
      </p:sp>
      <p:pic>
        <p:nvPicPr>
          <p:cNvPr id="3" name="Triage dashboard screenshot" descr="C:\Users\BHAVYE\AppData\Local\Temp\claude\C--Users-BHAVYE-Downloads-data-science-project-data-science-project\1d9077e6-2b37-4f23-8b26-5c029e89e8bd\scratchpad/shot_triage.png">    </p:cNvPr>
          <p:cNvPicPr>
            <a:picLocks noChangeAspect="1"/>
          </p:cNvPicPr>
          <p:nvPr/>
        </p:nvPicPr>
        <p:blipFill>
          <a:blip r:embed="rId1"/>
          <a:stretch>
            <a:fillRect/>
          </a:stretch>
        </p:blipFill>
        <p:spPr>
          <a:xfrm>
            <a:off x="548640" y="1325880"/>
            <a:ext cx="7223760" cy="3611880"/>
          </a:xfrm>
          <a:prstGeom prst="rect">
            <a:avLst/>
          </a:prstGeom>
        </p:spPr>
      </p:pic>
      <p:sp>
        <p:nvSpPr>
          <p:cNvPr id="4" name="Shape 1"/>
          <p:cNvSpPr/>
          <p:nvPr/>
        </p:nvSpPr>
        <p:spPr>
          <a:xfrm>
            <a:off x="548640" y="1325880"/>
            <a:ext cx="7223760" cy="3611880"/>
          </a:xfrm>
          <a:prstGeom prst="rect">
            <a:avLst/>
          </a:prstGeom>
          <a:ln w="9525">
            <a:solidFill>
              <a:srgbClr val="CBD5E1"/>
            </a:solidFill>
            <a:prstDash val="solid"/>
          </a:ln>
        </p:spPr>
      </p:sp>
      <p:sp>
        <p:nvSpPr>
          <p:cNvPr id="5" name="Text 2"/>
          <p:cNvSpPr txBox="1"/>
          <p:nvPr/>
        </p:nvSpPr>
        <p:spPr>
          <a:xfrm>
            <a:off x="548640" y="5029200"/>
            <a:ext cx="7223760" cy="365760"/>
          </a:xfrm>
          <a:prstGeom prst="rect">
            <a:avLst/>
          </a:prstGeom>
          <a:noFill/>
          <a:ln/>
        </p:spPr>
        <p:txBody>
          <a:bodyPr wrap="square" lIns="0" tIns="0" rIns="0" bIns="0" rtlCol="0" anchor="t"/>
          <a:lstStyle/>
          <a:p>
            <a:pPr indent="0" marL="0">
              <a:buNone/>
            </a:pPr>
            <a:r>
              <a:rPr lang="en-US" sz="1200" dirty="0">
                <a:solidFill>
                  <a:schemeClr val="accent5"/>
                </a:solidFill>
              </a:rPr>
              <a:t>Bedside triage tab: septic-shock example scored 0.962 (High), with EtCO₂ not measured.</a:t>
            </a:r>
            <a:endParaRPr lang="en-US" sz="1200" dirty="0"/>
          </a:p>
        </p:txBody>
      </p:sp>
      <p:sp>
        <p:nvSpPr>
          <p:cNvPr id="6" name="Text 3"/>
          <p:cNvSpPr txBox="1"/>
          <p:nvPr/>
        </p:nvSpPr>
        <p:spPr>
          <a:xfrm>
            <a:off x="548640" y="5440680"/>
            <a:ext cx="7223760" cy="868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Other tabs: ROC / PR curves and a data explorer that loads any row into the form.</a:t>
            </a:r>
            <a:endParaRPr lang="en-US" sz="1400" dirty="0"/>
          </a:p>
          <a:p>
            <a:pPr marL="342900" indent="-342900">
              <a:spcAft>
                <a:spcPts val="600"/>
              </a:spcAft>
              <a:buSzPct val="100000"/>
              <a:buChar char="•"/>
            </a:pPr>
            <a:r>
              <a:rPr lang="en-US" sz="1400" dirty="0">
                <a:solidFill>
                  <a:schemeClr val="tx1"/>
                </a:solidFill>
              </a:rPr>
              <a:t>Use: a health worker enters available vitals; the tier sets how often to re-check and when to escalate.</a:t>
            </a:r>
            <a:endParaRPr lang="en-US" sz="1400" dirty="0"/>
          </a:p>
        </p:txBody>
      </p:sp>
      <p:sp>
        <p:nvSpPr>
          <p:cNvPr id="7" name="Text 4"/>
          <p:cNvSpPr txBox="1"/>
          <p:nvPr/>
        </p:nvSpPr>
        <p:spPr>
          <a:xfrm>
            <a:off x="8138160" y="1325880"/>
            <a:ext cx="3474720" cy="365760"/>
          </a:xfrm>
          <a:prstGeom prst="rect">
            <a:avLst/>
          </a:prstGeom>
          <a:noFill/>
          <a:ln/>
        </p:spPr>
        <p:txBody>
          <a:bodyPr wrap="square" lIns="0" tIns="0" rIns="0" bIns="0" rtlCol="0" anchor="t"/>
          <a:lstStyle/>
          <a:p>
            <a:pPr indent="0" marL="0">
              <a:buNone/>
            </a:pPr>
            <a:r>
              <a:rPr lang="en-US" sz="1600" b="1" dirty="0">
                <a:solidFill>
                  <a:schemeClr val="tx2"/>
                </a:solidFill>
              </a:rPr>
              <a:t>Example inputs → outputs</a:t>
            </a:r>
            <a:endParaRPr lang="en-US" sz="1600" dirty="0"/>
          </a:p>
        </p:txBody>
      </p:sp>
      <p:sp>
        <p:nvSpPr>
          <p:cNvPr id="8" name="Shape 5"/>
          <p:cNvSpPr/>
          <p:nvPr/>
        </p:nvSpPr>
        <p:spPr>
          <a:xfrm>
            <a:off x="8138160" y="1783080"/>
            <a:ext cx="3474720" cy="1005840"/>
          </a:xfrm>
          <a:prstGeom prst="roundRect">
            <a:avLst>
              <a:gd name="adj" fmla="val 9091"/>
            </a:avLst>
          </a:prstGeom>
          <a:solidFill>
            <a:schemeClr val="bg2"/>
          </a:solidFill>
          <a:ln/>
        </p:spPr>
      </p:sp>
      <p:sp>
        <p:nvSpPr>
          <p:cNvPr id="9" name="Text 6"/>
          <p:cNvSpPr txBox="1"/>
          <p:nvPr/>
        </p:nvSpPr>
        <p:spPr>
          <a:xfrm>
            <a:off x="8275320" y="1874520"/>
            <a:ext cx="2240280" cy="822960"/>
          </a:xfrm>
          <a:prstGeom prst="rect">
            <a:avLst/>
          </a:prstGeom>
          <a:noFill/>
          <a:ln/>
        </p:spPr>
        <p:txBody>
          <a:bodyPr wrap="square" lIns="0" tIns="0" rIns="0" bIns="0" rtlCol="0" anchor="t"/>
          <a:lstStyle/>
          <a:p>
            <a:pPr indent="0" marL="0">
              <a:buNone/>
            </a:pPr>
            <a:r>
              <a:rPr lang="en-US" sz="1400" b="1" dirty="0">
                <a:solidFill>
                  <a:schemeClr val="tx1"/>
                </a:solidFill>
              </a:rPr>
              <a:t>Healthy adult</a:t>
            </a:r>
            <a:endParaRPr lang="en-US" sz="1400" dirty="0"/>
          </a:p>
          <a:p>
            <a:pPr indent="0" marL="0">
              <a:buNone/>
            </a:pPr>
            <a:r>
              <a:rPr lang="en-US" sz="1200" dirty="0">
                <a:solidFill>
                  <a:schemeClr val="accent5"/>
                </a:solidFill>
              </a:rPr>
              <a:t>HR 78, Temp 36.8, RR 15, BP 122/78</a:t>
            </a:r>
            <a:endParaRPr lang="en-US" sz="1400" dirty="0"/>
          </a:p>
        </p:txBody>
      </p:sp>
      <p:sp>
        <p:nvSpPr>
          <p:cNvPr id="10" name="Text 7"/>
          <p:cNvSpPr txBox="1"/>
          <p:nvPr/>
        </p:nvSpPr>
        <p:spPr>
          <a:xfrm>
            <a:off x="10515600" y="1892808"/>
            <a:ext cx="960120" cy="411480"/>
          </a:xfrm>
          <a:prstGeom prst="rect">
            <a:avLst/>
          </a:prstGeom>
          <a:noFill/>
          <a:ln/>
        </p:spPr>
        <p:txBody>
          <a:bodyPr wrap="square" lIns="0" tIns="0" rIns="0" bIns="0" rtlCol="0" anchor="t"/>
          <a:lstStyle/>
          <a:p>
            <a:pPr algn="r" indent="0" marL="0">
              <a:buNone/>
            </a:pPr>
            <a:r>
              <a:rPr lang="en-US" sz="2000" b="1" dirty="0">
                <a:solidFill>
                  <a:schemeClr val="accent4"/>
                </a:solidFill>
              </a:rPr>
              <a:t>0.181</a:t>
            </a:r>
            <a:endParaRPr lang="en-US" sz="2000" dirty="0"/>
          </a:p>
        </p:txBody>
      </p:sp>
      <p:sp>
        <p:nvSpPr>
          <p:cNvPr id="11" name="Text 8"/>
          <p:cNvSpPr txBox="1"/>
          <p:nvPr/>
        </p:nvSpPr>
        <p:spPr>
          <a:xfrm>
            <a:off x="10515600" y="2313432"/>
            <a:ext cx="960120" cy="320040"/>
          </a:xfrm>
          <a:prstGeom prst="rect">
            <a:avLst/>
          </a:prstGeom>
          <a:noFill/>
          <a:ln/>
        </p:spPr>
        <p:txBody>
          <a:bodyPr wrap="square" lIns="0" tIns="0" rIns="0" bIns="0" rtlCol="0" anchor="t"/>
          <a:lstStyle/>
          <a:p>
            <a:pPr algn="r" indent="0" marL="0">
              <a:buNone/>
            </a:pPr>
            <a:r>
              <a:rPr lang="en-US" sz="1300" b="1" dirty="0">
                <a:solidFill>
                  <a:schemeClr val="accent4"/>
                </a:solidFill>
              </a:rPr>
              <a:t>Low</a:t>
            </a:r>
            <a:endParaRPr lang="en-US" sz="1300" dirty="0"/>
          </a:p>
        </p:txBody>
      </p:sp>
      <p:sp>
        <p:nvSpPr>
          <p:cNvPr id="12" name="Shape 9"/>
          <p:cNvSpPr/>
          <p:nvPr/>
        </p:nvSpPr>
        <p:spPr>
          <a:xfrm>
            <a:off x="8138160" y="2898648"/>
            <a:ext cx="3474720" cy="1005840"/>
          </a:xfrm>
          <a:prstGeom prst="roundRect">
            <a:avLst>
              <a:gd name="adj" fmla="val 9091"/>
            </a:avLst>
          </a:prstGeom>
          <a:solidFill>
            <a:schemeClr val="bg2"/>
          </a:solidFill>
          <a:ln/>
        </p:spPr>
      </p:sp>
      <p:sp>
        <p:nvSpPr>
          <p:cNvPr id="13" name="Text 10"/>
          <p:cNvSpPr txBox="1"/>
          <p:nvPr/>
        </p:nvSpPr>
        <p:spPr>
          <a:xfrm>
            <a:off x="8275320" y="2990088"/>
            <a:ext cx="2240280" cy="822960"/>
          </a:xfrm>
          <a:prstGeom prst="rect">
            <a:avLst/>
          </a:prstGeom>
          <a:noFill/>
          <a:ln/>
        </p:spPr>
        <p:txBody>
          <a:bodyPr wrap="square" lIns="0" tIns="0" rIns="0" bIns="0" rtlCol="0" anchor="t"/>
          <a:lstStyle/>
          <a:p>
            <a:pPr indent="0" marL="0">
              <a:buNone/>
            </a:pPr>
            <a:r>
              <a:rPr lang="en-US" sz="1400" b="1" dirty="0">
                <a:solidFill>
                  <a:schemeClr val="tx1"/>
                </a:solidFill>
              </a:rPr>
              <a:t>Septic shock</a:t>
            </a:r>
            <a:endParaRPr lang="en-US" sz="1400" dirty="0"/>
          </a:p>
          <a:p>
            <a:pPr indent="0" marL="0">
              <a:buNone/>
            </a:pPr>
            <a:r>
              <a:rPr lang="en-US" sz="1200" dirty="0">
                <a:solidFill>
                  <a:schemeClr val="accent5"/>
                </a:solidFill>
              </a:rPr>
              <a:t>HR 126, Temp 38.9, RR 28, BP 88/52</a:t>
            </a:r>
            <a:endParaRPr lang="en-US" sz="1400" dirty="0"/>
          </a:p>
        </p:txBody>
      </p:sp>
      <p:sp>
        <p:nvSpPr>
          <p:cNvPr id="14" name="Text 11"/>
          <p:cNvSpPr txBox="1"/>
          <p:nvPr/>
        </p:nvSpPr>
        <p:spPr>
          <a:xfrm>
            <a:off x="10515600" y="3008376"/>
            <a:ext cx="960120" cy="411480"/>
          </a:xfrm>
          <a:prstGeom prst="rect">
            <a:avLst/>
          </a:prstGeom>
          <a:noFill/>
          <a:ln/>
        </p:spPr>
        <p:txBody>
          <a:bodyPr wrap="square" lIns="0" tIns="0" rIns="0" bIns="0" rtlCol="0" anchor="t"/>
          <a:lstStyle/>
          <a:p>
            <a:pPr algn="r" indent="0" marL="0">
              <a:buNone/>
            </a:pPr>
            <a:r>
              <a:rPr lang="en-US" sz="2000" b="1" dirty="0">
                <a:solidFill>
                  <a:schemeClr val="accent2"/>
                </a:solidFill>
              </a:rPr>
              <a:t>0.962</a:t>
            </a:r>
            <a:endParaRPr lang="en-US" sz="2000" dirty="0"/>
          </a:p>
        </p:txBody>
      </p:sp>
      <p:sp>
        <p:nvSpPr>
          <p:cNvPr id="15" name="Text 12"/>
          <p:cNvSpPr txBox="1"/>
          <p:nvPr/>
        </p:nvSpPr>
        <p:spPr>
          <a:xfrm>
            <a:off x="10515600" y="3429000"/>
            <a:ext cx="960120" cy="320040"/>
          </a:xfrm>
          <a:prstGeom prst="rect">
            <a:avLst/>
          </a:prstGeom>
          <a:noFill/>
          <a:ln/>
        </p:spPr>
        <p:txBody>
          <a:bodyPr wrap="square" lIns="0" tIns="0" rIns="0" bIns="0" rtlCol="0" anchor="t"/>
          <a:lstStyle/>
          <a:p>
            <a:pPr algn="r" indent="0" marL="0">
              <a:buNone/>
            </a:pPr>
            <a:r>
              <a:rPr lang="en-US" sz="1300" b="1" dirty="0">
                <a:solidFill>
                  <a:schemeClr val="accent2"/>
                </a:solidFill>
              </a:rPr>
              <a:t>High</a:t>
            </a:r>
            <a:endParaRPr lang="en-US" sz="1300" dirty="0"/>
          </a:p>
        </p:txBody>
      </p:sp>
      <p:sp>
        <p:nvSpPr>
          <p:cNvPr id="16" name="Shape 13"/>
          <p:cNvSpPr/>
          <p:nvPr/>
        </p:nvSpPr>
        <p:spPr>
          <a:xfrm>
            <a:off x="8138160" y="4014216"/>
            <a:ext cx="3474720" cy="1005840"/>
          </a:xfrm>
          <a:prstGeom prst="roundRect">
            <a:avLst>
              <a:gd name="adj" fmla="val 9091"/>
            </a:avLst>
          </a:prstGeom>
          <a:solidFill>
            <a:schemeClr val="bg2"/>
          </a:solidFill>
          <a:ln/>
        </p:spPr>
      </p:sp>
      <p:sp>
        <p:nvSpPr>
          <p:cNvPr id="17" name="Text 14"/>
          <p:cNvSpPr txBox="1"/>
          <p:nvPr/>
        </p:nvSpPr>
        <p:spPr>
          <a:xfrm>
            <a:off x="8275320" y="4105656"/>
            <a:ext cx="2240280" cy="822960"/>
          </a:xfrm>
          <a:prstGeom prst="rect">
            <a:avLst/>
          </a:prstGeom>
          <a:noFill/>
          <a:ln/>
        </p:spPr>
        <p:txBody>
          <a:bodyPr wrap="square" lIns="0" tIns="0" rIns="0" bIns="0" rtlCol="0" anchor="t"/>
          <a:lstStyle/>
          <a:p>
            <a:pPr indent="0" marL="0">
              <a:buNone/>
            </a:pPr>
            <a:r>
              <a:rPr lang="en-US" sz="1400" b="1" dirty="0">
                <a:solidFill>
                  <a:schemeClr val="tx1"/>
                </a:solidFill>
              </a:rPr>
              <a:t>BP cuff + thermometer</a:t>
            </a:r>
            <a:endParaRPr lang="en-US" sz="1400" dirty="0"/>
          </a:p>
          <a:p>
            <a:pPr indent="0" marL="0">
              <a:buNone/>
            </a:pPr>
            <a:r>
              <a:rPr lang="en-US" sz="1200" dirty="0">
                <a:solidFill>
                  <a:schemeClr val="accent5"/>
                </a:solidFill>
              </a:rPr>
              <a:t>HR 108, Temp 38.6, RR 24, BP 104/66</a:t>
            </a:r>
            <a:endParaRPr lang="en-US" sz="1400" dirty="0"/>
          </a:p>
        </p:txBody>
      </p:sp>
      <p:sp>
        <p:nvSpPr>
          <p:cNvPr id="18" name="Text 15"/>
          <p:cNvSpPr txBox="1"/>
          <p:nvPr/>
        </p:nvSpPr>
        <p:spPr>
          <a:xfrm>
            <a:off x="10515600" y="4123944"/>
            <a:ext cx="960120" cy="411480"/>
          </a:xfrm>
          <a:prstGeom prst="rect">
            <a:avLst/>
          </a:prstGeom>
          <a:noFill/>
          <a:ln/>
        </p:spPr>
        <p:txBody>
          <a:bodyPr wrap="square" lIns="0" tIns="0" rIns="0" bIns="0" rtlCol="0" anchor="t"/>
          <a:lstStyle/>
          <a:p>
            <a:pPr algn="r" indent="0" marL="0">
              <a:buNone/>
            </a:pPr>
            <a:r>
              <a:rPr lang="en-US" sz="2000" b="1" dirty="0">
                <a:solidFill>
                  <a:schemeClr val="accent2"/>
                </a:solidFill>
              </a:rPr>
              <a:t>0.961</a:t>
            </a:r>
            <a:endParaRPr lang="en-US" sz="2000" dirty="0"/>
          </a:p>
        </p:txBody>
      </p:sp>
      <p:sp>
        <p:nvSpPr>
          <p:cNvPr id="19" name="Text 16"/>
          <p:cNvSpPr txBox="1"/>
          <p:nvPr/>
        </p:nvSpPr>
        <p:spPr>
          <a:xfrm>
            <a:off x="10515600" y="4544568"/>
            <a:ext cx="960120" cy="320040"/>
          </a:xfrm>
          <a:prstGeom prst="rect">
            <a:avLst/>
          </a:prstGeom>
          <a:noFill/>
          <a:ln/>
        </p:spPr>
        <p:txBody>
          <a:bodyPr wrap="square" lIns="0" tIns="0" rIns="0" bIns="0" rtlCol="0" anchor="t"/>
          <a:lstStyle/>
          <a:p>
            <a:pPr algn="r" indent="0" marL="0">
              <a:buNone/>
            </a:pPr>
            <a:r>
              <a:rPr lang="en-US" sz="1300" b="1" dirty="0">
                <a:solidFill>
                  <a:schemeClr val="accent2"/>
                </a:solidFill>
              </a:rPr>
              <a:t>High</a:t>
            </a:r>
            <a:endParaRPr lang="en-US" sz="1300" dirty="0"/>
          </a:p>
        </p:txBody>
      </p:sp>
      <p:sp>
        <p:nvSpPr>
          <p:cNvPr id="20" name="Shape 17"/>
          <p:cNvSpPr/>
          <p:nvPr/>
        </p:nvSpPr>
        <p:spPr>
          <a:xfrm>
            <a:off x="8138160" y="5129784"/>
            <a:ext cx="3474720" cy="1005840"/>
          </a:xfrm>
          <a:prstGeom prst="roundRect">
            <a:avLst>
              <a:gd name="adj" fmla="val 9091"/>
            </a:avLst>
          </a:prstGeom>
          <a:solidFill>
            <a:schemeClr val="bg2"/>
          </a:solidFill>
          <a:ln/>
        </p:spPr>
      </p:sp>
      <p:sp>
        <p:nvSpPr>
          <p:cNvPr id="21" name="Text 18"/>
          <p:cNvSpPr txBox="1"/>
          <p:nvPr/>
        </p:nvSpPr>
        <p:spPr>
          <a:xfrm>
            <a:off x="8275320" y="5221224"/>
            <a:ext cx="2240280" cy="822960"/>
          </a:xfrm>
          <a:prstGeom prst="rect">
            <a:avLst/>
          </a:prstGeom>
          <a:noFill/>
          <a:ln/>
        </p:spPr>
        <p:txBody>
          <a:bodyPr wrap="square" lIns="0" tIns="0" rIns="0" bIns="0" rtlCol="0" anchor="t"/>
          <a:lstStyle/>
          <a:p>
            <a:pPr indent="0" marL="0">
              <a:buNone/>
            </a:pPr>
            <a:r>
              <a:rPr lang="en-US" sz="1400" b="1" dirty="0">
                <a:solidFill>
                  <a:schemeClr val="tx1"/>
                </a:solidFill>
              </a:rPr>
              <a:t>Elderly, hypothermic</a:t>
            </a:r>
            <a:endParaRPr lang="en-US" sz="1400" dirty="0"/>
          </a:p>
          <a:p>
            <a:pPr indent="0" marL="0">
              <a:buNone/>
            </a:pPr>
            <a:r>
              <a:rPr lang="en-US" sz="1200" dirty="0">
                <a:solidFill>
                  <a:schemeClr val="accent5"/>
                </a:solidFill>
              </a:rPr>
              <a:t>HR 112, Temp 35.4, RR 26, BP 92/54</a:t>
            </a:r>
            <a:endParaRPr lang="en-US" sz="1400" dirty="0"/>
          </a:p>
        </p:txBody>
      </p:sp>
      <p:sp>
        <p:nvSpPr>
          <p:cNvPr id="22" name="Text 19"/>
          <p:cNvSpPr txBox="1"/>
          <p:nvPr/>
        </p:nvSpPr>
        <p:spPr>
          <a:xfrm>
            <a:off x="10515600" y="5239512"/>
            <a:ext cx="960120" cy="411480"/>
          </a:xfrm>
          <a:prstGeom prst="rect">
            <a:avLst/>
          </a:prstGeom>
          <a:noFill/>
          <a:ln/>
        </p:spPr>
        <p:txBody>
          <a:bodyPr wrap="square" lIns="0" tIns="0" rIns="0" bIns="0" rtlCol="0" anchor="t"/>
          <a:lstStyle/>
          <a:p>
            <a:pPr algn="r" indent="0" marL="0">
              <a:buNone/>
            </a:pPr>
            <a:r>
              <a:rPr lang="en-US" sz="2000" b="1" dirty="0">
                <a:solidFill>
                  <a:schemeClr val="accent2"/>
                </a:solidFill>
              </a:rPr>
              <a:t>0.747</a:t>
            </a:r>
            <a:endParaRPr lang="en-US" sz="2000" dirty="0"/>
          </a:p>
        </p:txBody>
      </p:sp>
      <p:sp>
        <p:nvSpPr>
          <p:cNvPr id="23" name="Text 20"/>
          <p:cNvSpPr txBox="1"/>
          <p:nvPr/>
        </p:nvSpPr>
        <p:spPr>
          <a:xfrm>
            <a:off x="10515600" y="5660136"/>
            <a:ext cx="960120" cy="320040"/>
          </a:xfrm>
          <a:prstGeom prst="rect">
            <a:avLst/>
          </a:prstGeom>
          <a:noFill/>
          <a:ln/>
        </p:spPr>
        <p:txBody>
          <a:bodyPr wrap="square" lIns="0" tIns="0" rIns="0" bIns="0" rtlCol="0" anchor="t"/>
          <a:lstStyle/>
          <a:p>
            <a:pPr algn="r" indent="0" marL="0">
              <a:buNone/>
            </a:pPr>
            <a:r>
              <a:rPr lang="en-US" sz="1300" b="1" dirty="0">
                <a:solidFill>
                  <a:schemeClr val="accent2"/>
                </a:solidFill>
              </a:rPr>
              <a:t>High</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Challenges &amp; Solutions</a:t>
            </a:r>
            <a:endParaRPr lang="en-US" sz="3400" dirty="0"/>
          </a:p>
        </p:txBody>
      </p:sp>
      <p:sp>
        <p:nvSpPr>
          <p:cNvPr id="3" name="Text 1"/>
          <p:cNvSpPr txBox="1"/>
          <p:nvPr/>
        </p:nvSpPr>
        <p:spPr>
          <a:xfrm>
            <a:off x="548640" y="1325880"/>
            <a:ext cx="4206240" cy="365760"/>
          </a:xfrm>
          <a:prstGeom prst="rect">
            <a:avLst/>
          </a:prstGeom>
          <a:noFill/>
          <a:ln/>
        </p:spPr>
        <p:txBody>
          <a:bodyPr wrap="square" lIns="0" tIns="0" rIns="0" bIns="0" rtlCol="0" anchor="t"/>
          <a:lstStyle/>
          <a:p>
            <a:pPr indent="0" marL="0">
              <a:buNone/>
            </a:pPr>
            <a:r>
              <a:rPr lang="en-US" sz="1500" b="1" dirty="0">
                <a:solidFill>
                  <a:schemeClr val="accent5"/>
                </a:solidFill>
              </a:rPr>
              <a:t>Challenge</a:t>
            </a:r>
            <a:endParaRPr lang="en-US" sz="1500" dirty="0"/>
          </a:p>
        </p:txBody>
      </p:sp>
      <p:sp>
        <p:nvSpPr>
          <p:cNvPr id="4" name="Text 2"/>
          <p:cNvSpPr txBox="1"/>
          <p:nvPr/>
        </p:nvSpPr>
        <p:spPr>
          <a:xfrm>
            <a:off x="5257800" y="1325880"/>
            <a:ext cx="6309360" cy="365760"/>
          </a:xfrm>
          <a:prstGeom prst="rect">
            <a:avLst/>
          </a:prstGeom>
          <a:noFill/>
          <a:ln/>
        </p:spPr>
        <p:txBody>
          <a:bodyPr wrap="square" lIns="0" tIns="0" rIns="0" bIns="0" rtlCol="0" anchor="t"/>
          <a:lstStyle/>
          <a:p>
            <a:pPr indent="0" marL="0">
              <a:buNone/>
            </a:pPr>
            <a:r>
              <a:rPr lang="en-US" sz="1500" b="1" dirty="0">
                <a:solidFill>
                  <a:schemeClr val="accent5"/>
                </a:solidFill>
              </a:rPr>
              <a:t>How we addressed it</a:t>
            </a:r>
            <a:endParaRPr lang="en-US" sz="1500" dirty="0"/>
          </a:p>
        </p:txBody>
      </p:sp>
      <p:sp>
        <p:nvSpPr>
          <p:cNvPr id="5" name="Shape 3"/>
          <p:cNvSpPr/>
          <p:nvPr/>
        </p:nvSpPr>
        <p:spPr>
          <a:xfrm>
            <a:off x="548640" y="1783080"/>
            <a:ext cx="4343400" cy="749808"/>
          </a:xfrm>
          <a:prstGeom prst="roundRect">
            <a:avLst>
              <a:gd name="adj" fmla="val 12195"/>
            </a:avLst>
          </a:prstGeom>
          <a:solidFill>
            <a:schemeClr val="bg2"/>
          </a:solidFill>
          <a:ln/>
        </p:spPr>
      </p:sp>
      <p:sp>
        <p:nvSpPr>
          <p:cNvPr id="6" name="Text 4"/>
          <p:cNvSpPr txBox="1"/>
          <p:nvPr/>
        </p:nvSpPr>
        <p:spPr>
          <a:xfrm>
            <a:off x="731520" y="1783080"/>
            <a:ext cx="4023360" cy="749808"/>
          </a:xfrm>
          <a:prstGeom prst="rect">
            <a:avLst/>
          </a:prstGeom>
          <a:noFill/>
          <a:ln/>
        </p:spPr>
        <p:txBody>
          <a:bodyPr wrap="square" lIns="0" tIns="0" rIns="0" bIns="0" rtlCol="0" anchor="ctr"/>
          <a:lstStyle/>
          <a:p>
            <a:pPr indent="0" marL="0">
              <a:buNone/>
            </a:pPr>
            <a:r>
              <a:rPr lang="en-US" sz="1500" b="1" dirty="0">
                <a:solidFill>
                  <a:schemeClr val="tx2"/>
                </a:solidFill>
              </a:rPr>
              <a:t>No access to real patient records</a:t>
            </a:r>
            <a:endParaRPr lang="en-US" sz="1500" dirty="0"/>
          </a:p>
        </p:txBody>
      </p:sp>
      <p:sp>
        <p:nvSpPr>
          <p:cNvPr id="7" name="Shape 5"/>
          <p:cNvSpPr/>
          <p:nvPr/>
        </p:nvSpPr>
        <p:spPr>
          <a:xfrm>
            <a:off x="4919472" y="2157984"/>
            <a:ext cx="292608" cy="0"/>
          </a:xfrm>
          <a:prstGeom prst="line">
            <a:avLst/>
          </a:prstGeom>
          <a:noFill/>
          <a:ln w="22225">
            <a:solidFill>
              <a:schemeClr val="accent5"/>
            </a:solidFill>
            <a:prstDash val="solid"/>
            <a:tailEnd type="triangle"/>
          </a:ln>
        </p:spPr>
      </p:sp>
      <p:sp>
        <p:nvSpPr>
          <p:cNvPr id="8" name="Text 6"/>
          <p:cNvSpPr txBox="1"/>
          <p:nvPr/>
        </p:nvSpPr>
        <p:spPr>
          <a:xfrm>
            <a:off x="5257800" y="1783080"/>
            <a:ext cx="6355080" cy="749808"/>
          </a:xfrm>
          <a:prstGeom prst="rect">
            <a:avLst/>
          </a:prstGeom>
          <a:noFill/>
          <a:ln/>
        </p:spPr>
        <p:txBody>
          <a:bodyPr wrap="square" lIns="0" tIns="0" rIns="0" bIns="0" rtlCol="0" anchor="ctr"/>
          <a:lstStyle/>
          <a:p>
            <a:pPr indent="0" marL="0">
              <a:buNone/>
            </a:pPr>
            <a:r>
              <a:rPr lang="en-US" sz="1500" dirty="0">
                <a:solidFill>
                  <a:schemeClr val="tx1"/>
                </a:solidFill>
              </a:rPr>
              <a:t>Built a physiologically grounded synthetic generator with sepsis trajectories, mimics and equipment profiles.</a:t>
            </a:r>
            <a:endParaRPr lang="en-US" sz="1500" dirty="0"/>
          </a:p>
        </p:txBody>
      </p:sp>
      <p:sp>
        <p:nvSpPr>
          <p:cNvPr id="9" name="Shape 7"/>
          <p:cNvSpPr/>
          <p:nvPr/>
        </p:nvSpPr>
        <p:spPr>
          <a:xfrm>
            <a:off x="548640" y="2670048"/>
            <a:ext cx="4343400" cy="749808"/>
          </a:xfrm>
          <a:prstGeom prst="roundRect">
            <a:avLst>
              <a:gd name="adj" fmla="val 12195"/>
            </a:avLst>
          </a:prstGeom>
          <a:solidFill>
            <a:schemeClr val="bg2"/>
          </a:solidFill>
          <a:ln/>
        </p:spPr>
      </p:sp>
      <p:sp>
        <p:nvSpPr>
          <p:cNvPr id="10" name="Text 8"/>
          <p:cNvSpPr txBox="1"/>
          <p:nvPr/>
        </p:nvSpPr>
        <p:spPr>
          <a:xfrm>
            <a:off x="731520" y="2670048"/>
            <a:ext cx="4023360" cy="749808"/>
          </a:xfrm>
          <a:prstGeom prst="rect">
            <a:avLst/>
          </a:prstGeom>
          <a:noFill/>
          <a:ln/>
        </p:spPr>
        <p:txBody>
          <a:bodyPr wrap="square" lIns="0" tIns="0" rIns="0" bIns="0" rtlCol="0" anchor="ctr"/>
          <a:lstStyle/>
          <a:p>
            <a:pPr indent="0" marL="0">
              <a:buNone/>
            </a:pPr>
            <a:r>
              <a:rPr lang="en-US" sz="1500" b="1" dirty="0">
                <a:solidFill>
                  <a:schemeClr val="tx2"/>
                </a:solidFill>
              </a:rPr>
              <a:t>Missing sensors at small clinics</a:t>
            </a:r>
            <a:endParaRPr lang="en-US" sz="1500" dirty="0"/>
          </a:p>
        </p:txBody>
      </p:sp>
      <p:sp>
        <p:nvSpPr>
          <p:cNvPr id="11" name="Shape 9"/>
          <p:cNvSpPr/>
          <p:nvPr/>
        </p:nvSpPr>
        <p:spPr>
          <a:xfrm>
            <a:off x="4919472" y="3044952"/>
            <a:ext cx="292608" cy="0"/>
          </a:xfrm>
          <a:prstGeom prst="line">
            <a:avLst/>
          </a:prstGeom>
          <a:noFill/>
          <a:ln w="22225">
            <a:solidFill>
              <a:schemeClr val="accent5"/>
            </a:solidFill>
            <a:prstDash val="solid"/>
            <a:tailEnd type="triangle"/>
          </a:ln>
        </p:spPr>
      </p:sp>
      <p:sp>
        <p:nvSpPr>
          <p:cNvPr id="12" name="Text 10"/>
          <p:cNvSpPr txBox="1"/>
          <p:nvPr/>
        </p:nvSpPr>
        <p:spPr>
          <a:xfrm>
            <a:off x="5257800" y="2670048"/>
            <a:ext cx="6355080" cy="749808"/>
          </a:xfrm>
          <a:prstGeom prst="rect">
            <a:avLst/>
          </a:prstGeom>
          <a:noFill/>
          <a:ln/>
        </p:spPr>
        <p:txBody>
          <a:bodyPr wrap="square" lIns="0" tIns="0" rIns="0" bIns="0" rtlCol="0" anchor="ctr"/>
          <a:lstStyle/>
          <a:p>
            <a:pPr indent="0" marL="0">
              <a:buNone/>
            </a:pPr>
            <a:r>
              <a:rPr lang="en-US" sz="1500" dirty="0">
                <a:solidFill>
                  <a:schemeClr val="tx1"/>
                </a:solidFill>
              </a:rPr>
              <a:t>Pass unknowns as NaN, never 0; the tree model routes missing values down learned branches.</a:t>
            </a:r>
            <a:endParaRPr lang="en-US" sz="1500" dirty="0"/>
          </a:p>
        </p:txBody>
      </p:sp>
      <p:sp>
        <p:nvSpPr>
          <p:cNvPr id="13" name="Shape 11"/>
          <p:cNvSpPr/>
          <p:nvPr/>
        </p:nvSpPr>
        <p:spPr>
          <a:xfrm>
            <a:off x="548640" y="3557016"/>
            <a:ext cx="4343400" cy="749808"/>
          </a:xfrm>
          <a:prstGeom prst="roundRect">
            <a:avLst>
              <a:gd name="adj" fmla="val 12195"/>
            </a:avLst>
          </a:prstGeom>
          <a:solidFill>
            <a:schemeClr val="bg2"/>
          </a:solidFill>
          <a:ln/>
        </p:spPr>
      </p:sp>
      <p:sp>
        <p:nvSpPr>
          <p:cNvPr id="14" name="Text 12"/>
          <p:cNvSpPr txBox="1"/>
          <p:nvPr/>
        </p:nvSpPr>
        <p:spPr>
          <a:xfrm>
            <a:off x="731520" y="3557016"/>
            <a:ext cx="4023360" cy="749808"/>
          </a:xfrm>
          <a:prstGeom prst="rect">
            <a:avLst/>
          </a:prstGeom>
          <a:noFill/>
          <a:ln/>
        </p:spPr>
        <p:txBody>
          <a:bodyPr wrap="square" lIns="0" tIns="0" rIns="0" bIns="0" rtlCol="0" anchor="ctr"/>
          <a:lstStyle/>
          <a:p>
            <a:pPr indent="0" marL="0">
              <a:buNone/>
            </a:pPr>
            <a:r>
              <a:rPr lang="en-US" sz="1500" b="1" dirty="0">
                <a:solidFill>
                  <a:schemeClr val="tx2"/>
                </a:solidFill>
              </a:rPr>
              <a:t>Faulty readings (e.g. cuff reads 0 mmHg)</a:t>
            </a:r>
            <a:endParaRPr lang="en-US" sz="1500" dirty="0"/>
          </a:p>
        </p:txBody>
      </p:sp>
      <p:sp>
        <p:nvSpPr>
          <p:cNvPr id="15" name="Shape 13"/>
          <p:cNvSpPr/>
          <p:nvPr/>
        </p:nvSpPr>
        <p:spPr>
          <a:xfrm>
            <a:off x="4919472" y="3931920"/>
            <a:ext cx="292608" cy="0"/>
          </a:xfrm>
          <a:prstGeom prst="line">
            <a:avLst/>
          </a:prstGeom>
          <a:noFill/>
          <a:ln w="22225">
            <a:solidFill>
              <a:schemeClr val="accent5"/>
            </a:solidFill>
            <a:prstDash val="solid"/>
            <a:tailEnd type="triangle"/>
          </a:ln>
        </p:spPr>
      </p:sp>
      <p:sp>
        <p:nvSpPr>
          <p:cNvPr id="16" name="Text 14"/>
          <p:cNvSpPr txBox="1"/>
          <p:nvPr/>
        </p:nvSpPr>
        <p:spPr>
          <a:xfrm>
            <a:off x="5257800" y="3557016"/>
            <a:ext cx="6355080" cy="749808"/>
          </a:xfrm>
          <a:prstGeom prst="rect">
            <a:avLst/>
          </a:prstGeom>
          <a:noFill/>
          <a:ln/>
        </p:spPr>
        <p:txBody>
          <a:bodyPr wrap="square" lIns="0" tIns="0" rIns="0" bIns="0" rtlCol="0" anchor="ctr"/>
          <a:lstStyle/>
          <a:p>
            <a:pPr indent="0" marL="0">
              <a:buNone/>
            </a:pPr>
            <a:r>
              <a:rPr lang="en-US" sz="1500" dirty="0">
                <a:solidFill>
                  <a:schemeClr val="tx1"/>
                </a:solidFill>
              </a:rPr>
              <a:t>Plausibility bounds reject impossible values before forward fill and in the API.</a:t>
            </a:r>
            <a:endParaRPr lang="en-US" sz="1500" dirty="0"/>
          </a:p>
        </p:txBody>
      </p:sp>
      <p:sp>
        <p:nvSpPr>
          <p:cNvPr id="17" name="Shape 15"/>
          <p:cNvSpPr/>
          <p:nvPr/>
        </p:nvSpPr>
        <p:spPr>
          <a:xfrm>
            <a:off x="548640" y="4443984"/>
            <a:ext cx="4343400" cy="749808"/>
          </a:xfrm>
          <a:prstGeom prst="roundRect">
            <a:avLst>
              <a:gd name="adj" fmla="val 12195"/>
            </a:avLst>
          </a:prstGeom>
          <a:solidFill>
            <a:schemeClr val="bg2"/>
          </a:solidFill>
          <a:ln/>
        </p:spPr>
      </p:sp>
      <p:sp>
        <p:nvSpPr>
          <p:cNvPr id="18" name="Text 16"/>
          <p:cNvSpPr txBox="1"/>
          <p:nvPr/>
        </p:nvSpPr>
        <p:spPr>
          <a:xfrm>
            <a:off x="731520" y="4443984"/>
            <a:ext cx="4023360" cy="749808"/>
          </a:xfrm>
          <a:prstGeom prst="rect">
            <a:avLst/>
          </a:prstGeom>
          <a:noFill/>
          <a:ln/>
        </p:spPr>
        <p:txBody>
          <a:bodyPr wrap="square" lIns="0" tIns="0" rIns="0" bIns="0" rtlCol="0" anchor="ctr"/>
          <a:lstStyle/>
          <a:p>
            <a:pPr indent="0" marL="0">
              <a:buNone/>
            </a:pPr>
            <a:r>
              <a:rPr lang="en-US" sz="1500" b="1" dirty="0">
                <a:solidFill>
                  <a:schemeClr val="tx2"/>
                </a:solidFill>
              </a:rPr>
              <a:t>Severe class imbalance (3% positive)</a:t>
            </a:r>
            <a:endParaRPr lang="en-US" sz="1500" dirty="0"/>
          </a:p>
        </p:txBody>
      </p:sp>
      <p:sp>
        <p:nvSpPr>
          <p:cNvPr id="19" name="Shape 17"/>
          <p:cNvSpPr/>
          <p:nvPr/>
        </p:nvSpPr>
        <p:spPr>
          <a:xfrm>
            <a:off x="4919472" y="4818888"/>
            <a:ext cx="292608" cy="0"/>
          </a:xfrm>
          <a:prstGeom prst="line">
            <a:avLst/>
          </a:prstGeom>
          <a:noFill/>
          <a:ln w="22225">
            <a:solidFill>
              <a:schemeClr val="accent5"/>
            </a:solidFill>
            <a:prstDash val="solid"/>
            <a:tailEnd type="triangle"/>
          </a:ln>
        </p:spPr>
      </p:sp>
      <p:sp>
        <p:nvSpPr>
          <p:cNvPr id="20" name="Text 18"/>
          <p:cNvSpPr txBox="1"/>
          <p:nvPr/>
        </p:nvSpPr>
        <p:spPr>
          <a:xfrm>
            <a:off x="5257800" y="4443984"/>
            <a:ext cx="6355080" cy="749808"/>
          </a:xfrm>
          <a:prstGeom prst="rect">
            <a:avLst/>
          </a:prstGeom>
          <a:noFill/>
          <a:ln/>
        </p:spPr>
        <p:txBody>
          <a:bodyPr wrap="square" lIns="0" tIns="0" rIns="0" bIns="0" rtlCol="0" anchor="ctr"/>
          <a:lstStyle/>
          <a:p>
            <a:pPr indent="0" marL="0">
              <a:buNone/>
            </a:pPr>
            <a:r>
              <a:rPr lang="en-US" sz="1500" dirty="0">
                <a:solidFill>
                  <a:schemeClr val="tx1"/>
                </a:solidFill>
              </a:rPr>
              <a:t>Report AUPRC and lift over base rate, not accuracy; check tier calibration.</a:t>
            </a:r>
            <a:endParaRPr lang="en-US" sz="1500" dirty="0"/>
          </a:p>
        </p:txBody>
      </p:sp>
      <p:sp>
        <p:nvSpPr>
          <p:cNvPr id="21" name="Shape 19"/>
          <p:cNvSpPr/>
          <p:nvPr/>
        </p:nvSpPr>
        <p:spPr>
          <a:xfrm>
            <a:off x="548640" y="5330952"/>
            <a:ext cx="4343400" cy="749808"/>
          </a:xfrm>
          <a:prstGeom prst="roundRect">
            <a:avLst>
              <a:gd name="adj" fmla="val 12195"/>
            </a:avLst>
          </a:prstGeom>
          <a:solidFill>
            <a:schemeClr val="bg2"/>
          </a:solidFill>
          <a:ln/>
        </p:spPr>
      </p:sp>
      <p:sp>
        <p:nvSpPr>
          <p:cNvPr id="22" name="Text 20"/>
          <p:cNvSpPr txBox="1"/>
          <p:nvPr/>
        </p:nvSpPr>
        <p:spPr>
          <a:xfrm>
            <a:off x="731520" y="5330952"/>
            <a:ext cx="4023360" cy="749808"/>
          </a:xfrm>
          <a:prstGeom prst="rect">
            <a:avLst/>
          </a:prstGeom>
          <a:noFill/>
          <a:ln/>
        </p:spPr>
        <p:txBody>
          <a:bodyPr wrap="square" lIns="0" tIns="0" rIns="0" bIns="0" rtlCol="0" anchor="ctr"/>
          <a:lstStyle/>
          <a:p>
            <a:pPr indent="0" marL="0">
              <a:buNone/>
            </a:pPr>
            <a:r>
              <a:rPr lang="en-US" sz="1500" b="1" dirty="0">
                <a:solidFill>
                  <a:schemeClr val="tx2"/>
                </a:solidFill>
              </a:rPr>
              <a:t>Synthetic data favours threshold rules</a:t>
            </a:r>
            <a:endParaRPr lang="en-US" sz="1500" dirty="0"/>
          </a:p>
        </p:txBody>
      </p:sp>
      <p:sp>
        <p:nvSpPr>
          <p:cNvPr id="23" name="Shape 21"/>
          <p:cNvSpPr/>
          <p:nvPr/>
        </p:nvSpPr>
        <p:spPr>
          <a:xfrm>
            <a:off x="4919472" y="5705856"/>
            <a:ext cx="292608" cy="0"/>
          </a:xfrm>
          <a:prstGeom prst="line">
            <a:avLst/>
          </a:prstGeom>
          <a:noFill/>
          <a:ln w="22225">
            <a:solidFill>
              <a:schemeClr val="accent5"/>
            </a:solidFill>
            <a:prstDash val="solid"/>
            <a:tailEnd type="triangle"/>
          </a:ln>
        </p:spPr>
      </p:sp>
      <p:sp>
        <p:nvSpPr>
          <p:cNvPr id="24" name="Text 22"/>
          <p:cNvSpPr txBox="1"/>
          <p:nvPr/>
        </p:nvSpPr>
        <p:spPr>
          <a:xfrm>
            <a:off x="5257800" y="5330952"/>
            <a:ext cx="6355080" cy="749808"/>
          </a:xfrm>
          <a:prstGeom prst="rect">
            <a:avLst/>
          </a:prstGeom>
          <a:noFill/>
          <a:ln/>
        </p:spPr>
        <p:txBody>
          <a:bodyPr wrap="square" lIns="0" tIns="0" rIns="0" bIns="0" rtlCol="0" anchor="ctr"/>
          <a:lstStyle/>
          <a:p>
            <a:pPr indent="0" marL="0">
              <a:buNone/>
            </a:pPr>
            <a:r>
              <a:rPr lang="en-US" sz="1500" dirty="0">
                <a:solidFill>
                  <a:schemeClr val="tx1"/>
                </a:solidFill>
              </a:rPr>
              <a:t>Reported honestly; flagged in the dashboard; real-data validation planned.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Conclusion &amp; Future Scope</a:t>
            </a:r>
            <a:endParaRPr lang="en-US" sz="3400" dirty="0"/>
          </a:p>
        </p:txBody>
      </p:sp>
      <p:sp>
        <p:nvSpPr>
          <p:cNvPr id="3" name="Text 1"/>
          <p:cNvSpPr txBox="1"/>
          <p:nvPr/>
        </p:nvSpPr>
        <p:spPr>
          <a:xfrm>
            <a:off x="548640" y="1325880"/>
            <a:ext cx="5394960" cy="365760"/>
          </a:xfrm>
          <a:prstGeom prst="rect">
            <a:avLst/>
          </a:prstGeom>
          <a:noFill/>
          <a:ln/>
        </p:spPr>
        <p:txBody>
          <a:bodyPr wrap="square" lIns="0" tIns="0" rIns="0" bIns="0" rtlCol="0" anchor="t"/>
          <a:lstStyle/>
          <a:p>
            <a:pPr indent="0" marL="0">
              <a:buNone/>
            </a:pPr>
            <a:r>
              <a:rPr lang="en-US" sz="1800" b="1" dirty="0">
                <a:solidFill>
                  <a:schemeClr val="tx2"/>
                </a:solidFill>
              </a:rPr>
              <a:t>Objectives achieved</a:t>
            </a:r>
            <a:endParaRPr lang="en-US" sz="1800" dirty="0"/>
          </a:p>
        </p:txBody>
      </p:sp>
      <p:sp>
        <p:nvSpPr>
          <p:cNvPr id="4" name="Shape 2"/>
          <p:cNvSpPr/>
          <p:nvPr/>
        </p:nvSpPr>
        <p:spPr>
          <a:xfrm>
            <a:off x="548640" y="1920240"/>
            <a:ext cx="457200" cy="457200"/>
          </a:xfrm>
          <a:prstGeom prst="ellipse">
            <a:avLst/>
          </a:prstGeom>
          <a:solidFill>
            <a:schemeClr val="accent4"/>
          </a:solidFill>
          <a:ln/>
        </p:spPr>
      </p:sp>
      <p:sp>
        <p:nvSpPr>
          <p:cNvPr id="5" name="Text 3"/>
          <p:cNvSpPr txBox="1"/>
          <p:nvPr/>
        </p:nvSpPr>
        <p:spPr>
          <a:xfrm>
            <a:off x="548640" y="1920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Text 4"/>
          <p:cNvSpPr txBox="1"/>
          <p:nvPr/>
        </p:nvSpPr>
        <p:spPr>
          <a:xfrm>
            <a:off x="1188720" y="1828800"/>
            <a:ext cx="4754880" cy="685800"/>
          </a:xfrm>
          <a:prstGeom prst="rect">
            <a:avLst/>
          </a:prstGeom>
          <a:noFill/>
          <a:ln/>
        </p:spPr>
        <p:txBody>
          <a:bodyPr wrap="square" lIns="0" tIns="0" rIns="0" bIns="0" rtlCol="0" anchor="ctr"/>
          <a:lstStyle/>
          <a:p>
            <a:pPr indent="0" marL="0">
              <a:buNone/>
            </a:pPr>
            <a:r>
              <a:rPr lang="en-US" sz="1500" dirty="0">
                <a:solidFill>
                  <a:schemeClr val="tx1"/>
                </a:solidFill>
              </a:rPr>
              <a:t>Working end-to-end system: data → model → API → dashboard</a:t>
            </a:r>
            <a:endParaRPr lang="en-US" sz="1500" dirty="0"/>
          </a:p>
        </p:txBody>
      </p:sp>
      <p:sp>
        <p:nvSpPr>
          <p:cNvPr id="7" name="Shape 5"/>
          <p:cNvSpPr/>
          <p:nvPr/>
        </p:nvSpPr>
        <p:spPr>
          <a:xfrm>
            <a:off x="548640" y="2761488"/>
            <a:ext cx="457200" cy="457200"/>
          </a:xfrm>
          <a:prstGeom prst="ellipse">
            <a:avLst/>
          </a:prstGeom>
          <a:solidFill>
            <a:schemeClr val="accent4"/>
          </a:solidFill>
          <a:ln/>
        </p:spPr>
      </p:sp>
      <p:sp>
        <p:nvSpPr>
          <p:cNvPr id="8" name="Text 6"/>
          <p:cNvSpPr txBox="1"/>
          <p:nvPr/>
        </p:nvSpPr>
        <p:spPr>
          <a:xfrm>
            <a:off x="548640" y="27614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9" name="Text 7"/>
          <p:cNvSpPr txBox="1"/>
          <p:nvPr/>
        </p:nvSpPr>
        <p:spPr>
          <a:xfrm>
            <a:off x="1188720" y="2670048"/>
            <a:ext cx="4754880" cy="685800"/>
          </a:xfrm>
          <a:prstGeom prst="rect">
            <a:avLst/>
          </a:prstGeom>
          <a:noFill/>
          <a:ln/>
        </p:spPr>
        <p:txBody>
          <a:bodyPr wrap="square" lIns="0" tIns="0" rIns="0" bIns="0" rtlCol="0" anchor="ctr"/>
          <a:lstStyle/>
          <a:p>
            <a:pPr indent="0" marL="0">
              <a:buNone/>
            </a:pPr>
            <a:r>
              <a:rPr lang="en-US" sz="1500" dirty="0">
                <a:solidFill>
                  <a:schemeClr val="tx1"/>
                </a:solidFill>
              </a:rPr>
              <a:t>Scores with any subset of vitals; missing values handled correctly</a:t>
            </a:r>
            <a:endParaRPr lang="en-US" sz="1500" dirty="0"/>
          </a:p>
        </p:txBody>
      </p:sp>
      <p:sp>
        <p:nvSpPr>
          <p:cNvPr id="10" name="Shape 8"/>
          <p:cNvSpPr/>
          <p:nvPr/>
        </p:nvSpPr>
        <p:spPr>
          <a:xfrm>
            <a:off x="548640" y="3602736"/>
            <a:ext cx="457200" cy="457200"/>
          </a:xfrm>
          <a:prstGeom prst="ellipse">
            <a:avLst/>
          </a:prstGeom>
          <a:solidFill>
            <a:schemeClr val="accent4"/>
          </a:solidFill>
          <a:ln/>
        </p:spPr>
      </p:sp>
      <p:sp>
        <p:nvSpPr>
          <p:cNvPr id="11" name="Text 9"/>
          <p:cNvSpPr txBox="1"/>
          <p:nvPr/>
        </p:nvSpPr>
        <p:spPr>
          <a:xfrm>
            <a:off x="548640" y="36027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2" name="Text 10"/>
          <p:cNvSpPr txBox="1"/>
          <p:nvPr/>
        </p:nvSpPr>
        <p:spPr>
          <a:xfrm>
            <a:off x="1188720" y="3511296"/>
            <a:ext cx="4754880" cy="685800"/>
          </a:xfrm>
          <a:prstGeom prst="rect">
            <a:avLst/>
          </a:prstGeom>
          <a:noFill/>
          <a:ln/>
        </p:spPr>
        <p:txBody>
          <a:bodyPr wrap="square" lIns="0" tIns="0" rIns="0" bIns="0" rtlCol="0" anchor="ctr"/>
          <a:lstStyle/>
          <a:p>
            <a:pPr indent="0" marL="0">
              <a:buNone/>
            </a:pPr>
            <a:r>
              <a:rPr lang="en-US" sz="1500" dirty="0">
                <a:solidFill>
                  <a:schemeClr val="tx1"/>
                </a:solidFill>
              </a:rPr>
              <a:t>Clear tier separation: 0.95% → 5.6% → 21.4% observed sepsis</a:t>
            </a:r>
            <a:endParaRPr lang="en-US" sz="1500" dirty="0"/>
          </a:p>
        </p:txBody>
      </p:sp>
      <p:sp>
        <p:nvSpPr>
          <p:cNvPr id="13" name="Shape 11"/>
          <p:cNvSpPr/>
          <p:nvPr/>
        </p:nvSpPr>
        <p:spPr>
          <a:xfrm>
            <a:off x="548640" y="4443984"/>
            <a:ext cx="457200" cy="457200"/>
          </a:xfrm>
          <a:prstGeom prst="ellipse">
            <a:avLst/>
          </a:prstGeom>
          <a:solidFill>
            <a:schemeClr val="accent4"/>
          </a:solidFill>
          <a:ln/>
        </p:spPr>
      </p:sp>
      <p:sp>
        <p:nvSpPr>
          <p:cNvPr id="14" name="Text 12"/>
          <p:cNvSpPr txBox="1"/>
          <p:nvPr/>
        </p:nvSpPr>
        <p:spPr>
          <a:xfrm>
            <a:off x="548640" y="44439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5" name="Text 13"/>
          <p:cNvSpPr txBox="1"/>
          <p:nvPr/>
        </p:nvSpPr>
        <p:spPr>
          <a:xfrm>
            <a:off x="1188720" y="4352544"/>
            <a:ext cx="4754880" cy="685800"/>
          </a:xfrm>
          <a:prstGeom prst="rect">
            <a:avLst/>
          </a:prstGeom>
          <a:noFill/>
          <a:ln/>
        </p:spPr>
        <p:txBody>
          <a:bodyPr wrap="square" lIns="0" tIns="0" rIns="0" bIns="0" rtlCol="0" anchor="ctr"/>
          <a:lstStyle/>
          <a:p>
            <a:pPr indent="0" marL="0">
              <a:buNone/>
            </a:pPr>
            <a:r>
              <a:rPr lang="en-US" sz="1500" dirty="0">
                <a:solidFill>
                  <a:schemeClr val="tx1"/>
                </a:solidFill>
              </a:rPr>
              <a:t>Verified: published example reproduced (0.9618); worse vitals raise risk (0.02 → 0.98)</a:t>
            </a:r>
            <a:endParaRPr lang="en-US" sz="1500" dirty="0"/>
          </a:p>
        </p:txBody>
      </p:sp>
      <p:sp>
        <p:nvSpPr>
          <p:cNvPr id="16" name="Shape 14"/>
          <p:cNvSpPr/>
          <p:nvPr/>
        </p:nvSpPr>
        <p:spPr>
          <a:xfrm>
            <a:off x="548640" y="5285232"/>
            <a:ext cx="457200" cy="457200"/>
          </a:xfrm>
          <a:prstGeom prst="ellipse">
            <a:avLst/>
          </a:prstGeom>
          <a:solidFill>
            <a:schemeClr val="accent4"/>
          </a:solidFill>
          <a:ln/>
        </p:spPr>
      </p:sp>
      <p:sp>
        <p:nvSpPr>
          <p:cNvPr id="17" name="Text 15"/>
          <p:cNvSpPr txBox="1"/>
          <p:nvPr/>
        </p:nvSpPr>
        <p:spPr>
          <a:xfrm>
            <a:off x="548640" y="52852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8" name="Text 16"/>
          <p:cNvSpPr txBox="1"/>
          <p:nvPr/>
        </p:nvSpPr>
        <p:spPr>
          <a:xfrm>
            <a:off x="1188720" y="5193792"/>
            <a:ext cx="4754880" cy="685800"/>
          </a:xfrm>
          <a:prstGeom prst="rect">
            <a:avLst/>
          </a:prstGeom>
          <a:noFill/>
          <a:ln/>
        </p:spPr>
        <p:txBody>
          <a:bodyPr wrap="square" lIns="0" tIns="0" rIns="0" bIns="0" rtlCol="0" anchor="ctr"/>
          <a:lstStyle/>
          <a:p>
            <a:pPr indent="0" marL="0">
              <a:buNone/>
            </a:pPr>
            <a:r>
              <a:rPr lang="en-US" sz="1500" dirty="0">
                <a:solidFill>
                  <a:schemeClr val="tx1"/>
                </a:solidFill>
              </a:rPr>
              <a:t>Fast: about 97,000 patient-hours scored per second on a laptop CPU</a:t>
            </a:r>
            <a:endParaRPr lang="en-US" sz="1500" dirty="0"/>
          </a:p>
        </p:txBody>
      </p:sp>
      <p:sp>
        <p:nvSpPr>
          <p:cNvPr id="19" name="Shape 17"/>
          <p:cNvSpPr/>
          <p:nvPr/>
        </p:nvSpPr>
        <p:spPr>
          <a:xfrm>
            <a:off x="6400800" y="1325880"/>
            <a:ext cx="5212080" cy="4846320"/>
          </a:xfrm>
          <a:prstGeom prst="roundRect">
            <a:avLst>
              <a:gd name="adj" fmla="val 1887"/>
            </a:avLst>
          </a:prstGeom>
          <a:solidFill>
            <a:schemeClr val="bg2"/>
          </a:solidFill>
          <a:ln/>
        </p:spPr>
      </p:sp>
      <p:sp>
        <p:nvSpPr>
          <p:cNvPr id="20" name="Text 18"/>
          <p:cNvSpPr txBox="1"/>
          <p:nvPr/>
        </p:nvSpPr>
        <p:spPr>
          <a:xfrm>
            <a:off x="6675120" y="1508760"/>
            <a:ext cx="4663440" cy="365760"/>
          </a:xfrm>
          <a:prstGeom prst="rect">
            <a:avLst/>
          </a:prstGeom>
          <a:noFill/>
          <a:ln/>
        </p:spPr>
        <p:txBody>
          <a:bodyPr wrap="square" lIns="0" tIns="0" rIns="0" bIns="0" rtlCol="0" anchor="t"/>
          <a:lstStyle/>
          <a:p>
            <a:pPr indent="0" marL="0">
              <a:buNone/>
            </a:pPr>
            <a:r>
              <a:rPr lang="en-US" sz="1800" b="1" dirty="0">
                <a:solidFill>
                  <a:schemeClr val="tx2"/>
                </a:solidFill>
              </a:rPr>
              <a:t>Future scope</a:t>
            </a:r>
            <a:endParaRPr lang="en-US" sz="1800" dirty="0"/>
          </a:p>
        </p:txBody>
      </p:sp>
      <p:sp>
        <p:nvSpPr>
          <p:cNvPr id="21" name="Text 19"/>
          <p:cNvSpPr txBox="1"/>
          <p:nvPr/>
        </p:nvSpPr>
        <p:spPr>
          <a:xfrm>
            <a:off x="6675120" y="2011680"/>
            <a:ext cx="4663440" cy="4023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Validate on real PhysioNet 2019 records to replace synthetic results.</a:t>
            </a:r>
            <a:endParaRPr lang="en-US" sz="1500" dirty="0"/>
          </a:p>
          <a:p>
            <a:pPr marL="342900" indent="-342900">
              <a:spcAft>
                <a:spcPts val="600"/>
              </a:spcAft>
              <a:buSzPct val="100000"/>
              <a:buChar char="•"/>
            </a:pPr>
            <a:r>
              <a:rPr lang="en-US" sz="1500" dirty="0">
                <a:solidFill>
                  <a:schemeClr val="tx1"/>
                </a:solidFill>
              </a:rPr>
              <a:t>Train and compare our own models (logistic regression, random forest, LightGBM).</a:t>
            </a:r>
            <a:endParaRPr lang="en-US" sz="1500" dirty="0"/>
          </a:p>
          <a:p>
            <a:pPr marL="342900" indent="-342900">
              <a:spcAft>
                <a:spcPts val="600"/>
              </a:spcAft>
              <a:buSzPct val="100000"/>
              <a:buChar char="•"/>
            </a:pPr>
            <a:r>
              <a:rPr lang="en-US" sz="1500" dirty="0">
                <a:solidFill>
                  <a:schemeClr val="tx1"/>
                </a:solidFill>
              </a:rPr>
              <a:t>Use trends over several hours, not just the latest reading.</a:t>
            </a:r>
            <a:endParaRPr lang="en-US" sz="1500" dirty="0"/>
          </a:p>
          <a:p>
            <a:pPr marL="342900" indent="-342900">
              <a:spcAft>
                <a:spcPts val="600"/>
              </a:spcAft>
              <a:buSzPct val="100000"/>
              <a:buChar char="•"/>
            </a:pPr>
            <a:r>
              <a:rPr lang="en-US" sz="1500" dirty="0">
                <a:solidFill>
                  <a:schemeClr val="tx1"/>
                </a:solidFill>
              </a:rPr>
              <a:t>Explain each prediction (SHAP) on the dashboard.</a:t>
            </a:r>
            <a:endParaRPr lang="en-US" sz="1500" dirty="0"/>
          </a:p>
          <a:p>
            <a:pPr marL="342900" indent="-342900">
              <a:spcAft>
                <a:spcPts val="600"/>
              </a:spcAft>
              <a:buSzPct val="100000"/>
              <a:buChar char="•"/>
            </a:pPr>
            <a:r>
              <a:rPr lang="en-US" sz="1500" dirty="0">
                <a:solidFill>
                  <a:schemeClr val="tx1"/>
                </a:solidFill>
              </a:rPr>
              <a:t>Offline mobile app for clinics with poor connectivity.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References</a:t>
            </a:r>
            <a:endParaRPr lang="en-US" sz="3400" dirty="0"/>
          </a:p>
        </p:txBody>
      </p:sp>
      <p:sp>
        <p:nvSpPr>
          <p:cNvPr id="3" name="Shape 1"/>
          <p:cNvSpPr/>
          <p:nvPr/>
        </p:nvSpPr>
        <p:spPr>
          <a:xfrm>
            <a:off x="548640" y="1463040"/>
            <a:ext cx="457200" cy="457200"/>
          </a:xfrm>
          <a:prstGeom prst="ellipse">
            <a:avLst/>
          </a:prstGeom>
          <a:solidFill>
            <a:schemeClr val="accent1"/>
          </a:solidFill>
          <a:ln/>
        </p:spPr>
      </p:sp>
      <p:sp>
        <p:nvSpPr>
          <p:cNvPr id="4" name="Text 2"/>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34440" y="1371600"/>
            <a:ext cx="10378440" cy="1051560"/>
          </a:xfrm>
          <a:prstGeom prst="rect">
            <a:avLst/>
          </a:prstGeom>
          <a:noFill/>
          <a:ln/>
        </p:spPr>
        <p:txBody>
          <a:bodyPr wrap="square" lIns="0" tIns="0" rIns="0" bIns="0" rtlCol="0" anchor="t"/>
          <a:lstStyle/>
          <a:p>
            <a:pPr indent="0" marL="0">
              <a:buNone/>
            </a:pPr>
            <a:r>
              <a:rPr lang="en-US" sz="1400" b="1" dirty="0">
                <a:solidFill>
                  <a:schemeClr val="tx2"/>
                </a:solidFill>
              </a:rPr>
              <a:t>Dataset</a:t>
            </a:r>
            <a:endParaRPr lang="en-US" sz="1400" dirty="0"/>
          </a:p>
          <a:p>
            <a:pPr indent="0" marL="0">
              <a:buNone/>
            </a:pPr>
            <a:r>
              <a:rPr lang="en-US" sz="1400" dirty="0">
                <a:solidFill>
                  <a:schemeClr val="tx1"/>
                </a:solidFill>
              </a:rPr>
              <a:t>Reyna MA, Josef CS, Jeter R, et al. Early Prediction of Sepsis From Clinical Data: The PhysioNet/Computing in Cardiology Challenge 2019. Critical Care Medicine 2020;48(2):210–217. physionet.org/content/challenge-2019/1.0.0</a:t>
            </a:r>
            <a:endParaRPr lang="en-US" sz="1400" dirty="0"/>
          </a:p>
        </p:txBody>
      </p:sp>
      <p:sp>
        <p:nvSpPr>
          <p:cNvPr id="6" name="Shape 4"/>
          <p:cNvSpPr/>
          <p:nvPr/>
        </p:nvSpPr>
        <p:spPr>
          <a:xfrm>
            <a:off x="548640" y="2651760"/>
            <a:ext cx="457200" cy="457200"/>
          </a:xfrm>
          <a:prstGeom prst="ellipse">
            <a:avLst/>
          </a:prstGeom>
          <a:solidFill>
            <a:schemeClr val="accent1"/>
          </a:solidFill>
          <a:ln/>
        </p:spPr>
      </p:sp>
      <p:sp>
        <p:nvSpPr>
          <p:cNvPr id="7" name="Text 5"/>
          <p:cNvSpPr txBox="1"/>
          <p:nvPr/>
        </p:nvSpPr>
        <p:spPr>
          <a:xfrm>
            <a:off x="548640" y="2651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234440" y="2560320"/>
            <a:ext cx="10378440" cy="1051560"/>
          </a:xfrm>
          <a:prstGeom prst="rect">
            <a:avLst/>
          </a:prstGeom>
          <a:noFill/>
          <a:ln/>
        </p:spPr>
        <p:txBody>
          <a:bodyPr wrap="square" lIns="0" tIns="0" rIns="0" bIns="0" rtlCol="0" anchor="t"/>
          <a:lstStyle/>
          <a:p>
            <a:pPr indent="0" marL="0">
              <a:buNone/>
            </a:pPr>
            <a:r>
              <a:rPr lang="en-US" sz="1400" b="1" dirty="0">
                <a:solidFill>
                  <a:schemeClr val="tx2"/>
                </a:solidFill>
              </a:rPr>
              <a:t>Model</a:t>
            </a:r>
            <a:endParaRPr lang="en-US" sz="1400" dirty="0"/>
          </a:p>
          <a:p>
            <a:pPr indent="0" marL="0">
              <a:buNone/>
            </a:pPr>
            <a:r>
              <a:rPr lang="en-US" sz="1400" dirty="0">
                <a:solidFill>
                  <a:schemeClr val="tx1"/>
                </a:solidFill>
              </a:rPr>
              <a:t>asep-sepsis-onnx, team MyLove, Datathon 2026: pre-trained LightGBM model and model card (README).</a:t>
            </a:r>
            <a:endParaRPr lang="en-US" sz="1400" dirty="0"/>
          </a:p>
        </p:txBody>
      </p:sp>
      <p:sp>
        <p:nvSpPr>
          <p:cNvPr id="9" name="Shape 7"/>
          <p:cNvSpPr/>
          <p:nvPr/>
        </p:nvSpPr>
        <p:spPr>
          <a:xfrm>
            <a:off x="548640" y="3840480"/>
            <a:ext cx="457200" cy="457200"/>
          </a:xfrm>
          <a:prstGeom prst="ellipse">
            <a:avLst/>
          </a:prstGeom>
          <a:solidFill>
            <a:schemeClr val="accent1"/>
          </a:solidFill>
          <a:ln/>
        </p:spPr>
      </p:sp>
      <p:sp>
        <p:nvSpPr>
          <p:cNvPr id="10" name="Text 8"/>
          <p:cNvSpPr txBox="1"/>
          <p:nvPr/>
        </p:nvSpPr>
        <p:spPr>
          <a:xfrm>
            <a:off x="548640" y="3840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234440" y="3749040"/>
            <a:ext cx="10378440" cy="1051560"/>
          </a:xfrm>
          <a:prstGeom prst="rect">
            <a:avLst/>
          </a:prstGeom>
          <a:noFill/>
          <a:ln/>
        </p:spPr>
        <p:txBody>
          <a:bodyPr wrap="square" lIns="0" tIns="0" rIns="0" bIns="0" rtlCol="0" anchor="t"/>
          <a:lstStyle/>
          <a:p>
            <a:pPr indent="0" marL="0">
              <a:buNone/>
            </a:pPr>
            <a:r>
              <a:rPr lang="en-US" sz="1400" b="1" dirty="0">
                <a:solidFill>
                  <a:schemeClr val="tx2"/>
                </a:solidFill>
              </a:rPr>
              <a:t>Clinical scores</a:t>
            </a:r>
            <a:endParaRPr lang="en-US" sz="1400" dirty="0"/>
          </a:p>
          <a:p>
            <a:pPr indent="0" marL="0">
              <a:buNone/>
            </a:pPr>
            <a:r>
              <a:rPr lang="en-US" sz="1400" dirty="0">
                <a:solidFill>
                  <a:schemeClr val="tx1"/>
                </a:solidFill>
              </a:rPr>
              <a:t>Singer M, et al. The Third International Consensus Definitions for Sepsis and Septic Shock (Sepsis-3). JAMA 2016;315(8):801–810. Royal College of Physicians. National Early Warning Score (NEWS) 2, 2017.</a:t>
            </a:r>
            <a:endParaRPr lang="en-US" sz="1400" dirty="0"/>
          </a:p>
        </p:txBody>
      </p:sp>
      <p:sp>
        <p:nvSpPr>
          <p:cNvPr id="12" name="Shape 10"/>
          <p:cNvSpPr/>
          <p:nvPr/>
        </p:nvSpPr>
        <p:spPr>
          <a:xfrm>
            <a:off x="548640" y="5029200"/>
            <a:ext cx="457200" cy="457200"/>
          </a:xfrm>
          <a:prstGeom prst="ellipse">
            <a:avLst/>
          </a:prstGeom>
          <a:solidFill>
            <a:schemeClr val="accent1"/>
          </a:solidFill>
          <a:ln/>
        </p:spPr>
      </p:sp>
      <p:sp>
        <p:nvSpPr>
          <p:cNvPr id="13" name="Text 11"/>
          <p:cNvSpPr txBox="1"/>
          <p:nvPr/>
        </p:nvSpPr>
        <p:spPr>
          <a:xfrm>
            <a:off x="548640" y="5029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234440" y="4937760"/>
            <a:ext cx="10378440" cy="1051560"/>
          </a:xfrm>
          <a:prstGeom prst="rect">
            <a:avLst/>
          </a:prstGeom>
          <a:noFill/>
          <a:ln/>
        </p:spPr>
        <p:txBody>
          <a:bodyPr wrap="square" lIns="0" tIns="0" rIns="0" bIns="0" rtlCol="0" anchor="t"/>
          <a:lstStyle/>
          <a:p>
            <a:pPr indent="0" marL="0">
              <a:buNone/>
            </a:pPr>
            <a:r>
              <a:rPr lang="en-US" sz="1400" b="1" dirty="0">
                <a:solidFill>
                  <a:schemeClr val="tx2"/>
                </a:solidFill>
              </a:rPr>
              <a:t>Libraries</a:t>
            </a:r>
            <a:endParaRPr lang="en-US" sz="1400" dirty="0"/>
          </a:p>
          <a:p>
            <a:pPr indent="0" marL="0">
              <a:buNone/>
            </a:pPr>
            <a:r>
              <a:rPr lang="en-US" sz="1400" dirty="0">
                <a:solidFill>
                  <a:schemeClr val="tx1"/>
                </a:solidFill>
              </a:rPr>
              <a:t>ONNX Runtime (onnxruntime.ai) · LightGBM · scikit-learn · pandas · NumPy · Flask · Chart.js · Tailwind CSS documentation.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asep Clinical">
  <a:themeElements>
    <a:clrScheme name="asep Clinical">
      <a:dk1>
        <a:srgbClr val="1E293B"/>
      </a:dk1>
      <a:lt1>
        <a:srgbClr val="FFFFFF"/>
      </a:lt1>
      <a:dk2>
        <a:srgbClr val="0B3B3C"/>
      </a:dk2>
      <a:lt2>
        <a:srgbClr val="EAF3F2"/>
      </a:lt2>
      <a:accent1>
        <a:srgbClr val="0F766E"/>
      </a:accent1>
      <a:accent2>
        <a:srgbClr val="D7263D"/>
      </a:accent2>
      <a:accent3>
        <a:srgbClr val="E99A2C"/>
      </a:accent3>
      <a:accent4>
        <a:srgbClr val="2E9E6B"/>
      </a:accent4>
      <a:accent5>
        <a:srgbClr val="64748B"/>
      </a:accent5>
      <a:accent6>
        <a:srgbClr val="8FC1BB"/>
      </a:accent6>
      <a:hlink>
        <a:srgbClr val="0F766E"/>
      </a:hlink>
      <a:folHlink>
        <a:srgbClr val="64748B"/>
      </a:folHlink>
    </a:clrScheme>
    <a:fontScheme name="asep Clinic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asep: Sepsis Early Warning with Missing Vitals</dc:title>
  <dc:subject>PptxGenJS Presentation</dc:subject>
  <dc:creator>Abhinay Kharb, Swayam Mohanty, Omi Menass</dc:creator>
  <cp:lastModifiedBy>Abhinay Kharb, Swayam Mohanty, Omi Menass</cp:lastModifiedBy>
  <cp:revision>1</cp:revision>
  <dcterms:created xsi:type="dcterms:W3CDTF">2026-10-12T16:35:18Z</dcterms:created>
  <dcterms:modified xsi:type="dcterms:W3CDTF">2026-10-12T16:35:18Z</dcterms:modified>
</cp:coreProperties>
</file>